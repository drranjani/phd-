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320" r:id="rId3"/>
    <p:sldId id="257" r:id="rId4"/>
    <p:sldId id="321" r:id="rId5"/>
    <p:sldId id="258" r:id="rId6"/>
    <p:sldId id="322" r:id="rId7"/>
    <p:sldId id="324" r:id="rId8"/>
    <p:sldId id="337" r:id="rId9"/>
    <p:sldId id="326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8" r:id="rId18"/>
    <p:sldId id="267" r:id="rId19"/>
    <p:sldId id="271" r:id="rId20"/>
    <p:sldId id="272" r:id="rId21"/>
    <p:sldId id="310" r:id="rId22"/>
    <p:sldId id="273" r:id="rId23"/>
    <p:sldId id="274" r:id="rId24"/>
    <p:sldId id="275" r:id="rId25"/>
    <p:sldId id="278" r:id="rId26"/>
    <p:sldId id="332" r:id="rId27"/>
    <p:sldId id="279" r:id="rId28"/>
    <p:sldId id="333" r:id="rId29"/>
    <p:sldId id="280" r:id="rId30"/>
    <p:sldId id="281" r:id="rId31"/>
    <p:sldId id="338" r:id="rId32"/>
    <p:sldId id="339" r:id="rId33"/>
    <p:sldId id="340" r:id="rId34"/>
    <p:sldId id="341" r:id="rId35"/>
    <p:sldId id="284" r:id="rId36"/>
    <p:sldId id="285" r:id="rId37"/>
    <p:sldId id="288" r:id="rId38"/>
    <p:sldId id="336" r:id="rId39"/>
    <p:sldId id="292" r:id="rId40"/>
    <p:sldId id="335" r:id="rId41"/>
    <p:sldId id="312" r:id="rId42"/>
    <p:sldId id="342" r:id="rId43"/>
    <p:sldId id="291" r:id="rId44"/>
    <p:sldId id="313" r:id="rId45"/>
    <p:sldId id="294" r:id="rId46"/>
    <p:sldId id="299" r:id="rId47"/>
    <p:sldId id="297" r:id="rId48"/>
    <p:sldId id="296" r:id="rId49"/>
    <p:sldId id="300" r:id="rId50"/>
    <p:sldId id="301" r:id="rId51"/>
    <p:sldId id="302" r:id="rId52"/>
    <p:sldId id="304" r:id="rId53"/>
    <p:sldId id="330" r:id="rId54"/>
    <p:sldId id="331" r:id="rId55"/>
    <p:sldId id="305" r:id="rId56"/>
    <p:sldId id="306" r:id="rId57"/>
    <p:sldId id="307" r:id="rId58"/>
    <p:sldId id="315" r:id="rId59"/>
    <p:sldId id="308" r:id="rId60"/>
    <p:sldId id="309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2745" autoAdjust="0"/>
  </p:normalViewPr>
  <p:slideViewPr>
    <p:cSldViewPr>
      <p:cViewPr varScale="1">
        <p:scale>
          <a:sx n="82" d="100"/>
          <a:sy n="82" d="100"/>
        </p:scale>
        <p:origin x="-1498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578986-1292-4CEB-9AE8-61E00E7AF9C2}" type="doc">
      <dgm:prSet loTypeId="urn:microsoft.com/office/officeart/2005/8/layout/process4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7B27C55-F670-4B35-9FA5-04C37A2833BB}">
      <dgm:prSet phldrT="[Text]" custT="1"/>
      <dgm:spPr/>
      <dgm:t>
        <a:bodyPr/>
        <a:lstStyle/>
        <a:p>
          <a:pPr algn="ctr"/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IMAGE PRE-PROCESSING</a:t>
          </a:r>
          <a:endParaRPr lang="en-IN" sz="1800" dirty="0">
            <a:latin typeface="Times New Roman" pitchFamily="18" charset="0"/>
            <a:cs typeface="Times New Roman" pitchFamily="18" charset="0"/>
          </a:endParaRPr>
        </a:p>
      </dgm:t>
    </dgm:pt>
    <dgm:pt modelId="{F040883B-7D3B-41D6-A402-9E6D05C7DB37}" type="parTrans" cxnId="{07ADD7DC-680C-40F2-B6A6-F3CA11B45B36}">
      <dgm:prSet/>
      <dgm:spPr/>
      <dgm:t>
        <a:bodyPr/>
        <a:lstStyle/>
        <a:p>
          <a:pPr algn="ctr"/>
          <a:endParaRPr lang="en-IN"/>
        </a:p>
      </dgm:t>
    </dgm:pt>
    <dgm:pt modelId="{0E0D4363-824B-4661-B0D3-D09C36EB0BD6}" type="sibTrans" cxnId="{07ADD7DC-680C-40F2-B6A6-F3CA11B45B36}">
      <dgm:prSet/>
      <dgm:spPr/>
      <dgm:t>
        <a:bodyPr/>
        <a:lstStyle/>
        <a:p>
          <a:pPr algn="ctr"/>
          <a:endParaRPr lang="en-IN"/>
        </a:p>
      </dgm:t>
    </dgm:pt>
    <dgm:pt modelId="{CC0DDC63-F182-4B2F-8EA4-394767ABB1CF}">
      <dgm:prSet phldrT="[Text]" custT="1"/>
      <dgm:spPr/>
      <dgm:t>
        <a:bodyPr/>
        <a:lstStyle/>
        <a:p>
          <a:pPr algn="ctr"/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IMAGE RESTORATION </a:t>
          </a:r>
          <a:endParaRPr lang="en-IN" sz="1800" dirty="0">
            <a:latin typeface="Times New Roman" pitchFamily="18" charset="0"/>
            <a:cs typeface="Times New Roman" pitchFamily="18" charset="0"/>
          </a:endParaRPr>
        </a:p>
      </dgm:t>
    </dgm:pt>
    <dgm:pt modelId="{AB246860-69B9-4DAE-AB91-011E7F028CD6}" type="parTrans" cxnId="{E9EC6348-BD1B-4CCA-8360-75147718E970}">
      <dgm:prSet/>
      <dgm:spPr/>
      <dgm:t>
        <a:bodyPr/>
        <a:lstStyle/>
        <a:p>
          <a:pPr algn="ctr"/>
          <a:endParaRPr lang="en-IN"/>
        </a:p>
      </dgm:t>
    </dgm:pt>
    <dgm:pt modelId="{D277B484-38AC-4A31-9962-2E15B51A72B6}" type="sibTrans" cxnId="{E9EC6348-BD1B-4CCA-8360-75147718E970}">
      <dgm:prSet/>
      <dgm:spPr/>
      <dgm:t>
        <a:bodyPr/>
        <a:lstStyle/>
        <a:p>
          <a:pPr algn="ctr"/>
          <a:endParaRPr lang="en-IN"/>
        </a:p>
      </dgm:t>
    </dgm:pt>
    <dgm:pt modelId="{FAF24CC2-C9E3-4DB8-B4F2-5D40BE7338CB}">
      <dgm:prSet phldrT="[Text]" custT="1"/>
      <dgm:spPr/>
      <dgm:t>
        <a:bodyPr/>
        <a:lstStyle/>
        <a:p>
          <a:pPr algn="ctr"/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IMAGE ENHANCEMENT</a:t>
          </a:r>
          <a:endParaRPr lang="en-IN" sz="1800" dirty="0">
            <a:latin typeface="Times New Roman" pitchFamily="18" charset="0"/>
            <a:cs typeface="Times New Roman" pitchFamily="18" charset="0"/>
          </a:endParaRPr>
        </a:p>
      </dgm:t>
    </dgm:pt>
    <dgm:pt modelId="{1A7C4D17-49D5-4788-BE98-F5FB0C0F3A42}" type="parTrans" cxnId="{D62B61C6-5E70-406E-AF92-347228341E6D}">
      <dgm:prSet/>
      <dgm:spPr/>
      <dgm:t>
        <a:bodyPr/>
        <a:lstStyle/>
        <a:p>
          <a:pPr algn="ctr"/>
          <a:endParaRPr lang="en-IN"/>
        </a:p>
      </dgm:t>
    </dgm:pt>
    <dgm:pt modelId="{24CB4293-AA9D-4DB3-9585-476FAC00A0A1}" type="sibTrans" cxnId="{D62B61C6-5E70-406E-AF92-347228341E6D}">
      <dgm:prSet/>
      <dgm:spPr/>
      <dgm:t>
        <a:bodyPr/>
        <a:lstStyle/>
        <a:p>
          <a:pPr algn="ctr"/>
          <a:endParaRPr lang="en-IN"/>
        </a:p>
      </dgm:t>
    </dgm:pt>
    <dgm:pt modelId="{8E1AAD14-90D6-4859-9031-B09A2F860EC8}">
      <dgm:prSet phldrT="[Text]" custT="1"/>
      <dgm:spPr/>
      <dgm:t>
        <a:bodyPr/>
        <a:lstStyle/>
        <a:p>
          <a:pPr algn="ctr"/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IMAGE SEGMENTATION</a:t>
          </a:r>
          <a:endParaRPr lang="en-IN" sz="1800" dirty="0">
            <a:latin typeface="Times New Roman" pitchFamily="18" charset="0"/>
            <a:cs typeface="Times New Roman" pitchFamily="18" charset="0"/>
          </a:endParaRPr>
        </a:p>
      </dgm:t>
    </dgm:pt>
    <dgm:pt modelId="{BAC36FD4-4138-4030-B1E4-B37C8014A559}" type="parTrans" cxnId="{54F97339-4616-4431-AD89-AC240E4272F3}">
      <dgm:prSet/>
      <dgm:spPr/>
      <dgm:t>
        <a:bodyPr/>
        <a:lstStyle/>
        <a:p>
          <a:pPr algn="ctr"/>
          <a:endParaRPr lang="en-IN"/>
        </a:p>
      </dgm:t>
    </dgm:pt>
    <dgm:pt modelId="{C040AD58-9DB1-4C95-B38E-2DF56C34D6AF}" type="sibTrans" cxnId="{54F97339-4616-4431-AD89-AC240E4272F3}">
      <dgm:prSet/>
      <dgm:spPr/>
      <dgm:t>
        <a:bodyPr/>
        <a:lstStyle/>
        <a:p>
          <a:pPr algn="ctr"/>
          <a:endParaRPr lang="en-IN"/>
        </a:p>
      </dgm:t>
    </dgm:pt>
    <dgm:pt modelId="{A99FE5E2-31B9-4E83-BC1C-3186BA5C8DAE}">
      <dgm:prSet phldrT="[Text]" custT="1"/>
      <dgm:spPr/>
      <dgm:t>
        <a:bodyPr/>
        <a:lstStyle/>
        <a:p>
          <a:pPr algn="ctr"/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IMAGE </a:t>
          </a:r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THRESHOLDING</a:t>
          </a:r>
          <a:endParaRPr lang="en-IN" sz="1800" dirty="0">
            <a:latin typeface="Times New Roman" pitchFamily="18" charset="0"/>
            <a:cs typeface="Times New Roman" pitchFamily="18" charset="0"/>
          </a:endParaRPr>
        </a:p>
      </dgm:t>
    </dgm:pt>
    <dgm:pt modelId="{DCFD3C46-C085-4405-B931-4467A0342A03}" type="parTrans" cxnId="{56136F54-487C-43AA-9075-754DDB34BD2D}">
      <dgm:prSet/>
      <dgm:spPr/>
      <dgm:t>
        <a:bodyPr/>
        <a:lstStyle/>
        <a:p>
          <a:pPr algn="ctr"/>
          <a:endParaRPr lang="en-IN"/>
        </a:p>
      </dgm:t>
    </dgm:pt>
    <dgm:pt modelId="{D40F3B0F-7A21-4525-989B-2CA845BD5BA5}" type="sibTrans" cxnId="{56136F54-487C-43AA-9075-754DDB34BD2D}">
      <dgm:prSet/>
      <dgm:spPr/>
      <dgm:t>
        <a:bodyPr/>
        <a:lstStyle/>
        <a:p>
          <a:pPr algn="ctr"/>
          <a:endParaRPr lang="en-IN"/>
        </a:p>
      </dgm:t>
    </dgm:pt>
    <dgm:pt modelId="{4C3723DB-BC0C-4F72-92DC-5488A467BAC3}">
      <dgm:prSet phldrT="[Text]" custT="1"/>
      <dgm:spPr/>
      <dgm:t>
        <a:bodyPr/>
        <a:lstStyle/>
        <a:p>
          <a:pPr algn="ctr"/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IMAGE CLUSTERING</a:t>
          </a:r>
          <a:endParaRPr lang="en-IN" sz="1800" dirty="0">
            <a:latin typeface="Times New Roman" pitchFamily="18" charset="0"/>
            <a:cs typeface="Times New Roman" pitchFamily="18" charset="0"/>
          </a:endParaRPr>
        </a:p>
      </dgm:t>
    </dgm:pt>
    <dgm:pt modelId="{3446FA25-26D0-4099-8A5F-5E92E8326DE4}" type="parTrans" cxnId="{D49D0AC0-33BE-467D-A6B4-18316D901994}">
      <dgm:prSet/>
      <dgm:spPr/>
      <dgm:t>
        <a:bodyPr/>
        <a:lstStyle/>
        <a:p>
          <a:pPr algn="ctr"/>
          <a:endParaRPr lang="en-IN"/>
        </a:p>
      </dgm:t>
    </dgm:pt>
    <dgm:pt modelId="{3E9304E2-7172-4FC1-BFA4-D2F66D27E25D}" type="sibTrans" cxnId="{D49D0AC0-33BE-467D-A6B4-18316D901994}">
      <dgm:prSet/>
      <dgm:spPr/>
      <dgm:t>
        <a:bodyPr/>
        <a:lstStyle/>
        <a:p>
          <a:pPr algn="ctr"/>
          <a:endParaRPr lang="en-IN"/>
        </a:p>
      </dgm:t>
    </dgm:pt>
    <dgm:pt modelId="{8BE6EBDD-D7DF-4845-B440-466D16913451}">
      <dgm:prSet phldrT="[Text]" custT="1"/>
      <dgm:spPr/>
      <dgm:t>
        <a:bodyPr/>
        <a:lstStyle/>
        <a:p>
          <a:pPr algn="ctr"/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DEEP LEARNING </a:t>
          </a:r>
          <a:endParaRPr lang="en-IN" sz="1800" dirty="0">
            <a:latin typeface="Times New Roman" pitchFamily="18" charset="0"/>
            <a:cs typeface="Times New Roman" pitchFamily="18" charset="0"/>
          </a:endParaRPr>
        </a:p>
      </dgm:t>
    </dgm:pt>
    <dgm:pt modelId="{A7410FD6-2234-4199-84A1-308B2AED6996}" type="parTrans" cxnId="{19A23CB5-7113-443E-9DE1-430614072D7C}">
      <dgm:prSet/>
      <dgm:spPr/>
      <dgm:t>
        <a:bodyPr/>
        <a:lstStyle/>
        <a:p>
          <a:pPr algn="ctr"/>
          <a:endParaRPr lang="en-IN"/>
        </a:p>
      </dgm:t>
    </dgm:pt>
    <dgm:pt modelId="{B3A09BAA-38D8-4089-B9AE-4DAD83E034B3}" type="sibTrans" cxnId="{19A23CB5-7113-443E-9DE1-430614072D7C}">
      <dgm:prSet/>
      <dgm:spPr/>
      <dgm:t>
        <a:bodyPr/>
        <a:lstStyle/>
        <a:p>
          <a:pPr algn="ctr"/>
          <a:endParaRPr lang="en-IN"/>
        </a:p>
      </dgm:t>
    </dgm:pt>
    <dgm:pt modelId="{B0AD8A01-3F37-4070-A8B3-A018B8F6B799}">
      <dgm:prSet phldrT="[Text]" custT="1"/>
      <dgm:spPr/>
      <dgm:t>
        <a:bodyPr/>
        <a:lstStyle/>
        <a:p>
          <a:pPr algn="ctr"/>
          <a:r>
            <a:rPr lang="en-US" sz="1800" dirty="0" smtClean="0">
              <a:latin typeface="Times New Roman" pitchFamily="18" charset="0"/>
              <a:cs typeface="Times New Roman" pitchFamily="18" charset="0"/>
            </a:rPr>
            <a:t>CLASSIFICATION </a:t>
          </a:r>
          <a:endParaRPr lang="en-IN" sz="1800" dirty="0">
            <a:latin typeface="Times New Roman" pitchFamily="18" charset="0"/>
            <a:cs typeface="Times New Roman" pitchFamily="18" charset="0"/>
          </a:endParaRPr>
        </a:p>
      </dgm:t>
    </dgm:pt>
    <dgm:pt modelId="{E2089B80-C75B-4259-A0DB-30C7A7E23DCD}" type="parTrans" cxnId="{4EB87597-8409-442F-80F4-42460EB8A066}">
      <dgm:prSet/>
      <dgm:spPr/>
      <dgm:t>
        <a:bodyPr/>
        <a:lstStyle/>
        <a:p>
          <a:pPr algn="ctr"/>
          <a:endParaRPr lang="en-IN"/>
        </a:p>
      </dgm:t>
    </dgm:pt>
    <dgm:pt modelId="{6F25E6B3-F149-4CC5-9A1D-CEE8F537A66F}" type="sibTrans" cxnId="{4EB87597-8409-442F-80F4-42460EB8A066}">
      <dgm:prSet/>
      <dgm:spPr/>
      <dgm:t>
        <a:bodyPr/>
        <a:lstStyle/>
        <a:p>
          <a:pPr algn="ctr"/>
          <a:endParaRPr lang="en-IN"/>
        </a:p>
      </dgm:t>
    </dgm:pt>
    <dgm:pt modelId="{E7749813-B80A-481C-9C9E-3A36C5C7B0A8}" type="pres">
      <dgm:prSet presAssocID="{9F578986-1292-4CEB-9AE8-61E00E7AF9C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3F33030B-784E-4820-BEE0-4C6240477280}" type="pres">
      <dgm:prSet presAssocID="{8BE6EBDD-D7DF-4845-B440-466D16913451}" presName="boxAndChildren" presStyleCnt="0"/>
      <dgm:spPr/>
      <dgm:t>
        <a:bodyPr/>
        <a:lstStyle/>
        <a:p>
          <a:endParaRPr lang="en-IN"/>
        </a:p>
      </dgm:t>
    </dgm:pt>
    <dgm:pt modelId="{26E4C80D-F5F5-4799-9A61-E6D987737F7A}" type="pres">
      <dgm:prSet presAssocID="{8BE6EBDD-D7DF-4845-B440-466D16913451}" presName="parentTextBox" presStyleLbl="node1" presStyleIdx="0" presStyleCnt="3"/>
      <dgm:spPr/>
      <dgm:t>
        <a:bodyPr/>
        <a:lstStyle/>
        <a:p>
          <a:endParaRPr lang="en-IN"/>
        </a:p>
      </dgm:t>
    </dgm:pt>
    <dgm:pt modelId="{C9997F67-F35F-4F8A-9843-EF36613034AF}" type="pres">
      <dgm:prSet presAssocID="{8BE6EBDD-D7DF-4845-B440-466D16913451}" presName="entireBox" presStyleLbl="node1" presStyleIdx="0" presStyleCnt="3"/>
      <dgm:spPr/>
      <dgm:t>
        <a:bodyPr/>
        <a:lstStyle/>
        <a:p>
          <a:endParaRPr lang="en-IN"/>
        </a:p>
      </dgm:t>
    </dgm:pt>
    <dgm:pt modelId="{7515C007-1939-45E6-B1B7-9FCF907A42B1}" type="pres">
      <dgm:prSet presAssocID="{8BE6EBDD-D7DF-4845-B440-466D16913451}" presName="descendantBox" presStyleCnt="0"/>
      <dgm:spPr/>
      <dgm:t>
        <a:bodyPr/>
        <a:lstStyle/>
        <a:p>
          <a:endParaRPr lang="en-IN"/>
        </a:p>
      </dgm:t>
    </dgm:pt>
    <dgm:pt modelId="{AFA8C63F-0AE8-46E4-BC3D-5C5C1FD44F2A}" type="pres">
      <dgm:prSet presAssocID="{B0AD8A01-3F37-4070-A8B3-A018B8F6B799}" presName="childTextBox" presStyleLbl="fg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5CA64F1-21AD-40F0-B5D3-EA95EDA42574}" type="pres">
      <dgm:prSet presAssocID="{C040AD58-9DB1-4C95-B38E-2DF56C34D6AF}" presName="sp" presStyleCnt="0"/>
      <dgm:spPr/>
      <dgm:t>
        <a:bodyPr/>
        <a:lstStyle/>
        <a:p>
          <a:endParaRPr lang="en-IN"/>
        </a:p>
      </dgm:t>
    </dgm:pt>
    <dgm:pt modelId="{1E9527A3-EB1B-4999-B189-46BBC3ECDD6C}" type="pres">
      <dgm:prSet presAssocID="{8E1AAD14-90D6-4859-9031-B09A2F860EC8}" presName="arrowAndChildren" presStyleCnt="0"/>
      <dgm:spPr/>
      <dgm:t>
        <a:bodyPr/>
        <a:lstStyle/>
        <a:p>
          <a:endParaRPr lang="en-IN"/>
        </a:p>
      </dgm:t>
    </dgm:pt>
    <dgm:pt modelId="{D5278428-8C46-4412-BBD6-870E16EF5F6B}" type="pres">
      <dgm:prSet presAssocID="{8E1AAD14-90D6-4859-9031-B09A2F860EC8}" presName="parentTextArrow" presStyleLbl="node1" presStyleIdx="0" presStyleCnt="3"/>
      <dgm:spPr/>
      <dgm:t>
        <a:bodyPr/>
        <a:lstStyle/>
        <a:p>
          <a:endParaRPr lang="en-IN"/>
        </a:p>
      </dgm:t>
    </dgm:pt>
    <dgm:pt modelId="{ED605A3A-836A-4C4D-92EC-17D4193C4102}" type="pres">
      <dgm:prSet presAssocID="{8E1AAD14-90D6-4859-9031-B09A2F860EC8}" presName="arrow" presStyleLbl="node1" presStyleIdx="1" presStyleCnt="3"/>
      <dgm:spPr/>
      <dgm:t>
        <a:bodyPr/>
        <a:lstStyle/>
        <a:p>
          <a:endParaRPr lang="en-IN"/>
        </a:p>
      </dgm:t>
    </dgm:pt>
    <dgm:pt modelId="{C85245BB-8408-434A-948A-EC79296CD93F}" type="pres">
      <dgm:prSet presAssocID="{8E1AAD14-90D6-4859-9031-B09A2F860EC8}" presName="descendantArrow" presStyleCnt="0"/>
      <dgm:spPr/>
      <dgm:t>
        <a:bodyPr/>
        <a:lstStyle/>
        <a:p>
          <a:endParaRPr lang="en-IN"/>
        </a:p>
      </dgm:t>
    </dgm:pt>
    <dgm:pt modelId="{62FBC43A-A7FB-4465-ADF6-069FE438BC6B}" type="pres">
      <dgm:prSet presAssocID="{A99FE5E2-31B9-4E83-BC1C-3186BA5C8DAE}" presName="childTextArrow" presStyleLbl="fg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D869085-FC85-4665-8E7E-64D499F6DE7A}" type="pres">
      <dgm:prSet presAssocID="{4C3723DB-BC0C-4F72-92DC-5488A467BAC3}" presName="childTextArrow" presStyleLbl="fg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6B5251C-9EB1-4E8F-9766-98C4B7D44F75}" type="pres">
      <dgm:prSet presAssocID="{0E0D4363-824B-4661-B0D3-D09C36EB0BD6}" presName="sp" presStyleCnt="0"/>
      <dgm:spPr/>
      <dgm:t>
        <a:bodyPr/>
        <a:lstStyle/>
        <a:p>
          <a:endParaRPr lang="en-IN"/>
        </a:p>
      </dgm:t>
    </dgm:pt>
    <dgm:pt modelId="{54610C8D-5F58-486D-B708-1E481BD4C3F0}" type="pres">
      <dgm:prSet presAssocID="{C7B27C55-F670-4B35-9FA5-04C37A2833BB}" presName="arrowAndChildren" presStyleCnt="0"/>
      <dgm:spPr/>
      <dgm:t>
        <a:bodyPr/>
        <a:lstStyle/>
        <a:p>
          <a:endParaRPr lang="en-IN"/>
        </a:p>
      </dgm:t>
    </dgm:pt>
    <dgm:pt modelId="{509448A9-03E3-46EF-A824-D605D038EE49}" type="pres">
      <dgm:prSet presAssocID="{C7B27C55-F670-4B35-9FA5-04C37A2833BB}" presName="parentTextArrow" presStyleLbl="node1" presStyleIdx="1" presStyleCnt="3"/>
      <dgm:spPr/>
      <dgm:t>
        <a:bodyPr/>
        <a:lstStyle/>
        <a:p>
          <a:endParaRPr lang="en-IN"/>
        </a:p>
      </dgm:t>
    </dgm:pt>
    <dgm:pt modelId="{E8E67D7A-C227-4444-B698-11CE5C37FB27}" type="pres">
      <dgm:prSet presAssocID="{C7B27C55-F670-4B35-9FA5-04C37A2833BB}" presName="arrow" presStyleLbl="node1" presStyleIdx="2" presStyleCnt="3"/>
      <dgm:spPr/>
      <dgm:t>
        <a:bodyPr/>
        <a:lstStyle/>
        <a:p>
          <a:endParaRPr lang="en-IN"/>
        </a:p>
      </dgm:t>
    </dgm:pt>
    <dgm:pt modelId="{0B28DFB4-3F35-459A-9629-CACF6FC611CF}" type="pres">
      <dgm:prSet presAssocID="{C7B27C55-F670-4B35-9FA5-04C37A2833BB}" presName="descendantArrow" presStyleCnt="0"/>
      <dgm:spPr/>
      <dgm:t>
        <a:bodyPr/>
        <a:lstStyle/>
        <a:p>
          <a:endParaRPr lang="en-IN"/>
        </a:p>
      </dgm:t>
    </dgm:pt>
    <dgm:pt modelId="{331C76D2-2ABB-4BE1-92A0-0DE370FC9336}" type="pres">
      <dgm:prSet presAssocID="{CC0DDC63-F182-4B2F-8EA4-394767ABB1CF}" presName="childTextArrow" presStyleLbl="fg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6BB5615-100A-4C9A-A2E3-6B342D3046E0}" type="pres">
      <dgm:prSet presAssocID="{FAF24CC2-C9E3-4DB8-B4F2-5D40BE7338CB}" presName="childTextArrow" presStyleLbl="fg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24A6816-4CDD-465C-8934-7A3AF88E2575}" type="presOf" srcId="{8E1AAD14-90D6-4859-9031-B09A2F860EC8}" destId="{ED605A3A-836A-4C4D-92EC-17D4193C4102}" srcOrd="1" destOrd="0" presId="urn:microsoft.com/office/officeart/2005/8/layout/process4"/>
    <dgm:cxn modelId="{51C9F978-BC2F-4A4F-A2CC-A4868C3C5D1D}" type="presOf" srcId="{B0AD8A01-3F37-4070-A8B3-A018B8F6B799}" destId="{AFA8C63F-0AE8-46E4-BC3D-5C5C1FD44F2A}" srcOrd="0" destOrd="0" presId="urn:microsoft.com/office/officeart/2005/8/layout/process4"/>
    <dgm:cxn modelId="{C5A37FA9-0E78-4D07-ACD2-E5EF35FDFDC3}" type="presOf" srcId="{C7B27C55-F670-4B35-9FA5-04C37A2833BB}" destId="{E8E67D7A-C227-4444-B698-11CE5C37FB27}" srcOrd="1" destOrd="0" presId="urn:microsoft.com/office/officeart/2005/8/layout/process4"/>
    <dgm:cxn modelId="{21C7DF28-2BB8-4222-92F6-C52157046243}" type="presOf" srcId="{FAF24CC2-C9E3-4DB8-B4F2-5D40BE7338CB}" destId="{D6BB5615-100A-4C9A-A2E3-6B342D3046E0}" srcOrd="0" destOrd="0" presId="urn:microsoft.com/office/officeart/2005/8/layout/process4"/>
    <dgm:cxn modelId="{EC7BE969-B5B0-4241-91FF-CCF5211C2539}" type="presOf" srcId="{4C3723DB-BC0C-4F72-92DC-5488A467BAC3}" destId="{3D869085-FC85-4665-8E7E-64D499F6DE7A}" srcOrd="0" destOrd="0" presId="urn:microsoft.com/office/officeart/2005/8/layout/process4"/>
    <dgm:cxn modelId="{4EB87597-8409-442F-80F4-42460EB8A066}" srcId="{8BE6EBDD-D7DF-4845-B440-466D16913451}" destId="{B0AD8A01-3F37-4070-A8B3-A018B8F6B799}" srcOrd="0" destOrd="0" parTransId="{E2089B80-C75B-4259-A0DB-30C7A7E23DCD}" sibTransId="{6F25E6B3-F149-4CC5-9A1D-CEE8F537A66F}"/>
    <dgm:cxn modelId="{E9EC6348-BD1B-4CCA-8360-75147718E970}" srcId="{C7B27C55-F670-4B35-9FA5-04C37A2833BB}" destId="{CC0DDC63-F182-4B2F-8EA4-394767ABB1CF}" srcOrd="0" destOrd="0" parTransId="{AB246860-69B9-4DAE-AB91-011E7F028CD6}" sibTransId="{D277B484-38AC-4A31-9962-2E15B51A72B6}"/>
    <dgm:cxn modelId="{926EC7B1-8A3F-4EDC-A958-2CF2A958EAFB}" type="presOf" srcId="{A99FE5E2-31B9-4E83-BC1C-3186BA5C8DAE}" destId="{62FBC43A-A7FB-4465-ADF6-069FE438BC6B}" srcOrd="0" destOrd="0" presId="urn:microsoft.com/office/officeart/2005/8/layout/process4"/>
    <dgm:cxn modelId="{D62B61C6-5E70-406E-AF92-347228341E6D}" srcId="{C7B27C55-F670-4B35-9FA5-04C37A2833BB}" destId="{FAF24CC2-C9E3-4DB8-B4F2-5D40BE7338CB}" srcOrd="1" destOrd="0" parTransId="{1A7C4D17-49D5-4788-BE98-F5FB0C0F3A42}" sibTransId="{24CB4293-AA9D-4DB3-9585-476FAC00A0A1}"/>
    <dgm:cxn modelId="{25BB92EF-49F8-4EA6-A835-A4AB80692F37}" type="presOf" srcId="{C7B27C55-F670-4B35-9FA5-04C37A2833BB}" destId="{509448A9-03E3-46EF-A824-D605D038EE49}" srcOrd="0" destOrd="0" presId="urn:microsoft.com/office/officeart/2005/8/layout/process4"/>
    <dgm:cxn modelId="{2BDD54BF-41F0-4AE0-80E2-C9337724E245}" type="presOf" srcId="{8BE6EBDD-D7DF-4845-B440-466D16913451}" destId="{26E4C80D-F5F5-4799-9A61-E6D987737F7A}" srcOrd="0" destOrd="0" presId="urn:microsoft.com/office/officeart/2005/8/layout/process4"/>
    <dgm:cxn modelId="{1BE33180-1CB7-4B57-A748-D916FC88D6C2}" type="presOf" srcId="{9F578986-1292-4CEB-9AE8-61E00E7AF9C2}" destId="{E7749813-B80A-481C-9C9E-3A36C5C7B0A8}" srcOrd="0" destOrd="0" presId="urn:microsoft.com/office/officeart/2005/8/layout/process4"/>
    <dgm:cxn modelId="{DCA57865-B724-4382-AAE4-77C82C2D2ADA}" type="presOf" srcId="{8BE6EBDD-D7DF-4845-B440-466D16913451}" destId="{C9997F67-F35F-4F8A-9843-EF36613034AF}" srcOrd="1" destOrd="0" presId="urn:microsoft.com/office/officeart/2005/8/layout/process4"/>
    <dgm:cxn modelId="{54F97339-4616-4431-AD89-AC240E4272F3}" srcId="{9F578986-1292-4CEB-9AE8-61E00E7AF9C2}" destId="{8E1AAD14-90D6-4859-9031-B09A2F860EC8}" srcOrd="1" destOrd="0" parTransId="{BAC36FD4-4138-4030-B1E4-B37C8014A559}" sibTransId="{C040AD58-9DB1-4C95-B38E-2DF56C34D6AF}"/>
    <dgm:cxn modelId="{07ADD7DC-680C-40F2-B6A6-F3CA11B45B36}" srcId="{9F578986-1292-4CEB-9AE8-61E00E7AF9C2}" destId="{C7B27C55-F670-4B35-9FA5-04C37A2833BB}" srcOrd="0" destOrd="0" parTransId="{F040883B-7D3B-41D6-A402-9E6D05C7DB37}" sibTransId="{0E0D4363-824B-4661-B0D3-D09C36EB0BD6}"/>
    <dgm:cxn modelId="{D49D0AC0-33BE-467D-A6B4-18316D901994}" srcId="{8E1AAD14-90D6-4859-9031-B09A2F860EC8}" destId="{4C3723DB-BC0C-4F72-92DC-5488A467BAC3}" srcOrd="1" destOrd="0" parTransId="{3446FA25-26D0-4099-8A5F-5E92E8326DE4}" sibTransId="{3E9304E2-7172-4FC1-BFA4-D2F66D27E25D}"/>
    <dgm:cxn modelId="{56136F54-487C-43AA-9075-754DDB34BD2D}" srcId="{8E1AAD14-90D6-4859-9031-B09A2F860EC8}" destId="{A99FE5E2-31B9-4E83-BC1C-3186BA5C8DAE}" srcOrd="0" destOrd="0" parTransId="{DCFD3C46-C085-4405-B931-4467A0342A03}" sibTransId="{D40F3B0F-7A21-4525-989B-2CA845BD5BA5}"/>
    <dgm:cxn modelId="{A8D1C55B-ECD0-4726-8775-746D80EA26F9}" type="presOf" srcId="{8E1AAD14-90D6-4859-9031-B09A2F860EC8}" destId="{D5278428-8C46-4412-BBD6-870E16EF5F6B}" srcOrd="0" destOrd="0" presId="urn:microsoft.com/office/officeart/2005/8/layout/process4"/>
    <dgm:cxn modelId="{6B6F4C9C-E7A6-4BCA-B3DC-BEBC10EE5B0C}" type="presOf" srcId="{CC0DDC63-F182-4B2F-8EA4-394767ABB1CF}" destId="{331C76D2-2ABB-4BE1-92A0-0DE370FC9336}" srcOrd="0" destOrd="0" presId="urn:microsoft.com/office/officeart/2005/8/layout/process4"/>
    <dgm:cxn modelId="{19A23CB5-7113-443E-9DE1-430614072D7C}" srcId="{9F578986-1292-4CEB-9AE8-61E00E7AF9C2}" destId="{8BE6EBDD-D7DF-4845-B440-466D16913451}" srcOrd="2" destOrd="0" parTransId="{A7410FD6-2234-4199-84A1-308B2AED6996}" sibTransId="{B3A09BAA-38D8-4089-B9AE-4DAD83E034B3}"/>
    <dgm:cxn modelId="{5B57828F-D74F-4705-99CB-FAF839CA6D48}" type="presParOf" srcId="{E7749813-B80A-481C-9C9E-3A36C5C7B0A8}" destId="{3F33030B-784E-4820-BEE0-4C6240477280}" srcOrd="0" destOrd="0" presId="urn:microsoft.com/office/officeart/2005/8/layout/process4"/>
    <dgm:cxn modelId="{6EA95683-C664-4105-B0BB-42FD48E523F5}" type="presParOf" srcId="{3F33030B-784E-4820-BEE0-4C6240477280}" destId="{26E4C80D-F5F5-4799-9A61-E6D987737F7A}" srcOrd="0" destOrd="0" presId="urn:microsoft.com/office/officeart/2005/8/layout/process4"/>
    <dgm:cxn modelId="{61C79F7B-8A91-4BC2-902E-F944C0395539}" type="presParOf" srcId="{3F33030B-784E-4820-BEE0-4C6240477280}" destId="{C9997F67-F35F-4F8A-9843-EF36613034AF}" srcOrd="1" destOrd="0" presId="urn:microsoft.com/office/officeart/2005/8/layout/process4"/>
    <dgm:cxn modelId="{5CF35689-87F4-4646-8B4E-36C93B8548EF}" type="presParOf" srcId="{3F33030B-784E-4820-BEE0-4C6240477280}" destId="{7515C007-1939-45E6-B1B7-9FCF907A42B1}" srcOrd="2" destOrd="0" presId="urn:microsoft.com/office/officeart/2005/8/layout/process4"/>
    <dgm:cxn modelId="{AE72F6E8-4C80-474D-B68E-8D58CDEAEB45}" type="presParOf" srcId="{7515C007-1939-45E6-B1B7-9FCF907A42B1}" destId="{AFA8C63F-0AE8-46E4-BC3D-5C5C1FD44F2A}" srcOrd="0" destOrd="0" presId="urn:microsoft.com/office/officeart/2005/8/layout/process4"/>
    <dgm:cxn modelId="{10148A86-3C39-493C-AE23-833AE7C4E37F}" type="presParOf" srcId="{E7749813-B80A-481C-9C9E-3A36C5C7B0A8}" destId="{D5CA64F1-21AD-40F0-B5D3-EA95EDA42574}" srcOrd="1" destOrd="0" presId="urn:microsoft.com/office/officeart/2005/8/layout/process4"/>
    <dgm:cxn modelId="{62958F9D-EFEE-4546-BD71-9EB337C3EAD1}" type="presParOf" srcId="{E7749813-B80A-481C-9C9E-3A36C5C7B0A8}" destId="{1E9527A3-EB1B-4999-B189-46BBC3ECDD6C}" srcOrd="2" destOrd="0" presId="urn:microsoft.com/office/officeart/2005/8/layout/process4"/>
    <dgm:cxn modelId="{81715DDB-DA78-4701-A0FF-ABBC11976BE8}" type="presParOf" srcId="{1E9527A3-EB1B-4999-B189-46BBC3ECDD6C}" destId="{D5278428-8C46-4412-BBD6-870E16EF5F6B}" srcOrd="0" destOrd="0" presId="urn:microsoft.com/office/officeart/2005/8/layout/process4"/>
    <dgm:cxn modelId="{69200CAA-9C76-48F7-969F-407FF61B1A58}" type="presParOf" srcId="{1E9527A3-EB1B-4999-B189-46BBC3ECDD6C}" destId="{ED605A3A-836A-4C4D-92EC-17D4193C4102}" srcOrd="1" destOrd="0" presId="urn:microsoft.com/office/officeart/2005/8/layout/process4"/>
    <dgm:cxn modelId="{75120173-4752-4F77-A4DA-D82F4FB02484}" type="presParOf" srcId="{1E9527A3-EB1B-4999-B189-46BBC3ECDD6C}" destId="{C85245BB-8408-434A-948A-EC79296CD93F}" srcOrd="2" destOrd="0" presId="urn:microsoft.com/office/officeart/2005/8/layout/process4"/>
    <dgm:cxn modelId="{C3FF08CF-BFDC-4185-BDA3-192ECC70DCFB}" type="presParOf" srcId="{C85245BB-8408-434A-948A-EC79296CD93F}" destId="{62FBC43A-A7FB-4465-ADF6-069FE438BC6B}" srcOrd="0" destOrd="0" presId="urn:microsoft.com/office/officeart/2005/8/layout/process4"/>
    <dgm:cxn modelId="{E5549120-6F4B-425D-8B0F-98B7D3D6A221}" type="presParOf" srcId="{C85245BB-8408-434A-948A-EC79296CD93F}" destId="{3D869085-FC85-4665-8E7E-64D499F6DE7A}" srcOrd="1" destOrd="0" presId="urn:microsoft.com/office/officeart/2005/8/layout/process4"/>
    <dgm:cxn modelId="{B71B547D-E81D-4BDB-8D8D-F754743A5060}" type="presParOf" srcId="{E7749813-B80A-481C-9C9E-3A36C5C7B0A8}" destId="{B6B5251C-9EB1-4E8F-9766-98C4B7D44F75}" srcOrd="3" destOrd="0" presId="urn:microsoft.com/office/officeart/2005/8/layout/process4"/>
    <dgm:cxn modelId="{C6D06B6E-2136-4217-87D7-77D1797B0DAD}" type="presParOf" srcId="{E7749813-B80A-481C-9C9E-3A36C5C7B0A8}" destId="{54610C8D-5F58-486D-B708-1E481BD4C3F0}" srcOrd="4" destOrd="0" presId="urn:microsoft.com/office/officeart/2005/8/layout/process4"/>
    <dgm:cxn modelId="{7264AB61-431A-4BF1-98D9-345868B4CA7D}" type="presParOf" srcId="{54610C8D-5F58-486D-B708-1E481BD4C3F0}" destId="{509448A9-03E3-46EF-A824-D605D038EE49}" srcOrd="0" destOrd="0" presId="urn:microsoft.com/office/officeart/2005/8/layout/process4"/>
    <dgm:cxn modelId="{27507FD5-70B9-4113-BD82-48288A2C5B55}" type="presParOf" srcId="{54610C8D-5F58-486D-B708-1E481BD4C3F0}" destId="{E8E67D7A-C227-4444-B698-11CE5C37FB27}" srcOrd="1" destOrd="0" presId="urn:microsoft.com/office/officeart/2005/8/layout/process4"/>
    <dgm:cxn modelId="{3B8DA9B7-F696-4C93-8672-735380E5B199}" type="presParOf" srcId="{54610C8D-5F58-486D-B708-1E481BD4C3F0}" destId="{0B28DFB4-3F35-459A-9629-CACF6FC611CF}" srcOrd="2" destOrd="0" presId="urn:microsoft.com/office/officeart/2005/8/layout/process4"/>
    <dgm:cxn modelId="{BC8BB06F-29AE-469E-A309-50AF9164231F}" type="presParOf" srcId="{0B28DFB4-3F35-459A-9629-CACF6FC611CF}" destId="{331C76D2-2ABB-4BE1-92A0-0DE370FC9336}" srcOrd="0" destOrd="0" presId="urn:microsoft.com/office/officeart/2005/8/layout/process4"/>
    <dgm:cxn modelId="{9070097F-CE6C-4DDA-BF0F-261E0B3F4306}" type="presParOf" srcId="{0B28DFB4-3F35-459A-9629-CACF6FC611CF}" destId="{D6BB5615-100A-4C9A-A2E3-6B342D3046E0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997F67-F35F-4F8A-9843-EF36613034AF}">
      <dsp:nvSpPr>
        <dsp:cNvPr id="0" name=""/>
        <dsp:cNvSpPr/>
      </dsp:nvSpPr>
      <dsp:spPr>
        <a:xfrm>
          <a:off x="0" y="3740092"/>
          <a:ext cx="6096000" cy="1227581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itchFamily="18" charset="0"/>
              <a:cs typeface="Times New Roman" pitchFamily="18" charset="0"/>
            </a:rPr>
            <a:t>DEEP LEARNING </a:t>
          </a:r>
          <a:endParaRPr lang="en-IN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3740092"/>
        <a:ext cx="6096000" cy="662894"/>
      </dsp:txXfrm>
    </dsp:sp>
    <dsp:sp modelId="{AFA8C63F-0AE8-46E4-BC3D-5C5C1FD44F2A}">
      <dsp:nvSpPr>
        <dsp:cNvPr id="0" name=""/>
        <dsp:cNvSpPr/>
      </dsp:nvSpPr>
      <dsp:spPr>
        <a:xfrm>
          <a:off x="0" y="4378434"/>
          <a:ext cx="6096000" cy="56468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itchFamily="18" charset="0"/>
              <a:cs typeface="Times New Roman" pitchFamily="18" charset="0"/>
            </a:rPr>
            <a:t>CLASSIFICATION </a:t>
          </a:r>
          <a:endParaRPr lang="en-IN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4378434"/>
        <a:ext cx="6096000" cy="564687"/>
      </dsp:txXfrm>
    </dsp:sp>
    <dsp:sp modelId="{ED605A3A-836A-4C4D-92EC-17D4193C4102}">
      <dsp:nvSpPr>
        <dsp:cNvPr id="0" name=""/>
        <dsp:cNvSpPr/>
      </dsp:nvSpPr>
      <dsp:spPr>
        <a:xfrm rot="10800000">
          <a:off x="0" y="1870485"/>
          <a:ext cx="6096000" cy="1888020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itchFamily="18" charset="0"/>
              <a:cs typeface="Times New Roman" pitchFamily="18" charset="0"/>
            </a:rPr>
            <a:t>IMAGE SEGMENTATION</a:t>
          </a:r>
          <a:endParaRPr lang="en-IN" sz="1800" kern="1200" dirty="0">
            <a:latin typeface="Times New Roman" pitchFamily="18" charset="0"/>
            <a:cs typeface="Times New Roman" pitchFamily="18" charset="0"/>
          </a:endParaRPr>
        </a:p>
      </dsp:txBody>
      <dsp:txXfrm rot="-10800000">
        <a:off x="0" y="1870485"/>
        <a:ext cx="6096000" cy="662695"/>
      </dsp:txXfrm>
    </dsp:sp>
    <dsp:sp modelId="{62FBC43A-A7FB-4465-ADF6-069FE438BC6B}">
      <dsp:nvSpPr>
        <dsp:cNvPr id="0" name=""/>
        <dsp:cNvSpPr/>
      </dsp:nvSpPr>
      <dsp:spPr>
        <a:xfrm>
          <a:off x="0" y="2533180"/>
          <a:ext cx="3047999" cy="5645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itchFamily="18" charset="0"/>
              <a:cs typeface="Times New Roman" pitchFamily="18" charset="0"/>
            </a:rPr>
            <a:t>IMAGE </a:t>
          </a:r>
          <a:r>
            <a:rPr lang="en-US" sz="1800" kern="1200" dirty="0" smtClean="0">
              <a:latin typeface="Times New Roman" pitchFamily="18" charset="0"/>
              <a:cs typeface="Times New Roman" pitchFamily="18" charset="0"/>
            </a:rPr>
            <a:t>THRESHOLDING</a:t>
          </a:r>
          <a:endParaRPr lang="en-IN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2533180"/>
        <a:ext cx="3047999" cy="564518"/>
      </dsp:txXfrm>
    </dsp:sp>
    <dsp:sp modelId="{3D869085-FC85-4665-8E7E-64D499F6DE7A}">
      <dsp:nvSpPr>
        <dsp:cNvPr id="0" name=""/>
        <dsp:cNvSpPr/>
      </dsp:nvSpPr>
      <dsp:spPr>
        <a:xfrm>
          <a:off x="3048000" y="2533180"/>
          <a:ext cx="3047999" cy="5645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itchFamily="18" charset="0"/>
              <a:cs typeface="Times New Roman" pitchFamily="18" charset="0"/>
            </a:rPr>
            <a:t>IMAGE CLUSTERING</a:t>
          </a:r>
          <a:endParaRPr lang="en-IN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48000" y="2533180"/>
        <a:ext cx="3047999" cy="564518"/>
      </dsp:txXfrm>
    </dsp:sp>
    <dsp:sp modelId="{E8E67D7A-C227-4444-B698-11CE5C37FB27}">
      <dsp:nvSpPr>
        <dsp:cNvPr id="0" name=""/>
        <dsp:cNvSpPr/>
      </dsp:nvSpPr>
      <dsp:spPr>
        <a:xfrm rot="10800000">
          <a:off x="0" y="878"/>
          <a:ext cx="6096000" cy="1888020"/>
        </a:xfrm>
        <a:prstGeom prst="upArrowCallou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itchFamily="18" charset="0"/>
              <a:cs typeface="Times New Roman" pitchFamily="18" charset="0"/>
            </a:rPr>
            <a:t>IMAGE PRE-PROCESSING</a:t>
          </a:r>
          <a:endParaRPr lang="en-IN" sz="1800" kern="1200" dirty="0">
            <a:latin typeface="Times New Roman" pitchFamily="18" charset="0"/>
            <a:cs typeface="Times New Roman" pitchFamily="18" charset="0"/>
          </a:endParaRPr>
        </a:p>
      </dsp:txBody>
      <dsp:txXfrm rot="-10800000">
        <a:off x="0" y="878"/>
        <a:ext cx="6096000" cy="662695"/>
      </dsp:txXfrm>
    </dsp:sp>
    <dsp:sp modelId="{331C76D2-2ABB-4BE1-92A0-0DE370FC9336}">
      <dsp:nvSpPr>
        <dsp:cNvPr id="0" name=""/>
        <dsp:cNvSpPr/>
      </dsp:nvSpPr>
      <dsp:spPr>
        <a:xfrm>
          <a:off x="0" y="663573"/>
          <a:ext cx="3047999" cy="5645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itchFamily="18" charset="0"/>
              <a:cs typeface="Times New Roman" pitchFamily="18" charset="0"/>
            </a:rPr>
            <a:t>IMAGE RESTORATION </a:t>
          </a:r>
          <a:endParaRPr lang="en-IN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663573"/>
        <a:ext cx="3047999" cy="564518"/>
      </dsp:txXfrm>
    </dsp:sp>
    <dsp:sp modelId="{D6BB5615-100A-4C9A-A2E3-6B342D3046E0}">
      <dsp:nvSpPr>
        <dsp:cNvPr id="0" name=""/>
        <dsp:cNvSpPr/>
      </dsp:nvSpPr>
      <dsp:spPr>
        <a:xfrm>
          <a:off x="3048000" y="663573"/>
          <a:ext cx="3047999" cy="56451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Times New Roman" pitchFamily="18" charset="0"/>
              <a:cs typeface="Times New Roman" pitchFamily="18" charset="0"/>
            </a:rPr>
            <a:t>IMAGE ENHANCEMENT</a:t>
          </a:r>
          <a:endParaRPr lang="en-IN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48000" y="663573"/>
        <a:ext cx="3047999" cy="5645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3100C3-A850-4F5C-B2D6-BA9B1FB6CFB8}" type="datetimeFigureOut">
              <a:rPr lang="en-IN" smtClean="0"/>
              <a:t>11-07-2024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E9BFF-1010-4C1A-8B87-5ACCCDD7044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7831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E9BFF-1010-4C1A-8B87-5ACCCDD70449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2955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E9BFF-1010-4C1A-8B87-5ACCCDD70449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733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E9BFF-1010-4C1A-8B87-5ACCCDD70449}" type="slidenum">
              <a:rPr lang="en-IN" smtClean="0"/>
              <a:t>33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450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E9BFF-1010-4C1A-8B87-5ACCCDD70449}" type="slidenum">
              <a:rPr lang="en-IN" smtClean="0"/>
              <a:t>36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368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E9BFF-1010-4C1A-8B87-5ACCCDD70449}" type="slidenum">
              <a:rPr lang="en-IN" smtClean="0"/>
              <a:t>37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021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E9BFF-1010-4C1A-8B87-5ACCCDD70449}" type="slidenum">
              <a:rPr lang="en-IN" smtClean="0"/>
              <a:t>46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6890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g991c7bf9be_0_1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6" name="Google Shape;1886;g991c7bf9be_0_1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E9BFF-1010-4C1A-8B87-5ACCCDD70449}" type="slidenum">
              <a:rPr lang="en-IN" smtClean="0"/>
              <a:t>58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607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8389-4CC6-4BC7-BAF2-C35355F2E14E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5544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64718-6B0F-4F4B-B43B-C4E0D0FE12A7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752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C3336-3522-4468-ADBF-A55757DE66A7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951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91124-E632-4E52-B086-518DB691A517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6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C8528-3450-46EE-BC42-682B35FE01A7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0445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A85EF-F822-4DB9-B46C-73882FD1FA7D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7413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2CA76-ED8B-42FB-BD1C-59BCB678DB51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02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11415-CE51-4BCF-8866-94C090E8583B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176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AFB4-6C3C-47DD-B8E1-8888CAAD99AC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2804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8327-085B-4537-B73F-932DA2B7C119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213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7BD18-1C1C-461B-AB3E-936032F6638F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6175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545233"/>
            <a:ext cx="8229600" cy="8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57200" y="1536633"/>
            <a:ext cx="8229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416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BE064-059E-45C6-A481-64AABCFDD625}" type="datetime1">
              <a:rPr lang="en-IN" smtClean="0"/>
              <a:t>11-07-2024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Ranjani.R (Full-Time) Reg No:UP20G9571002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E7CB2-47A0-4028-96A6-1B1C078AA1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4599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onlinelibrary.wiley.com/doi/10.1002/emp2.12073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Dsysinfo\Desktop\logo2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11967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>
                <a:latin typeface="Arial Black" pitchFamily="34" charset="0"/>
              </a:rPr>
              <a:t>1</a:t>
            </a:fld>
            <a:endParaRPr lang="en-IN" dirty="0">
              <a:latin typeface="Arial Black" pitchFamily="3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399997" y="1162555"/>
            <a:ext cx="8496944" cy="864095"/>
          </a:xfrm>
        </p:spPr>
        <p:txBody>
          <a:bodyPr>
            <a:normAutofit fontScale="90000"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Ph.D VIVA-VOCE EXAMINATION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School of Computing Sciences 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0525" y="1603482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en-US" dirty="0" smtClean="0"/>
              <a:t>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12.07.2024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022" y="1613504"/>
            <a:ext cx="1646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Time:3:00 P.M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1561" y="1972814"/>
            <a:ext cx="75664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TITLE OF THESIS</a:t>
            </a:r>
          </a:p>
          <a:p>
            <a:pPr algn="ctr"/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“A HYBRID FRAMEWORK FOR COVID-19 DETECTION USING </a:t>
            </a:r>
          </a:p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2D-HYBRID FUZZY C-MEANS AND 2D-ITERATIVE CONVOLUTIONAL NEURAL NETWORK”</a:t>
            </a: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72692" y="3292532"/>
            <a:ext cx="523791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Research Scholar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Ranjani.R</a:t>
            </a:r>
          </a:p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</a:p>
          <a:p>
            <a:pPr algn="ctr"/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Venue: STEVE JOBS BLOCK,ROOM NO:201</a:t>
            </a: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3124200" y="6262595"/>
            <a:ext cx="2895600" cy="365125"/>
          </a:xfrm>
        </p:spPr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36512" y="4509120"/>
            <a:ext cx="387798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Research Supervisor</a:t>
            </a:r>
          </a:p>
          <a:p>
            <a:endParaRPr lang="en-US" sz="16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b="1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DR.R.PRIYA, M.C.A ,M.Phil., Ph.D</a:t>
            </a:r>
            <a:r>
              <a:rPr lang="en-US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r>
              <a:rPr lang="en-US" sz="1600" b="1" i="1" dirty="0" smtClean="0">
                <a:latin typeface="Times New Roman" pitchFamily="18" charset="0"/>
                <a:cs typeface="Times New Roman" pitchFamily="18" charset="0"/>
              </a:rPr>
              <a:t>Professor &amp; Head of Department of M.C.A,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Department of Computer Applications,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VISTAS , Pallavaram,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Chennai-600044.</a:t>
            </a:r>
            <a:endParaRPr lang="en-IN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06112" y="4529718"/>
            <a:ext cx="18678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External Examiner</a:t>
            </a: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12160" y="4875498"/>
            <a:ext cx="29878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DR.S.BALAJI</a:t>
            </a:r>
            <a:r>
              <a:rPr lang="en-IN" sz="1600" b="1" i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r>
              <a:rPr lang="en-US" sz="1600" b="1" i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Associate Professor &amp; Head ,</a:t>
            </a:r>
          </a:p>
          <a:p>
            <a:r>
              <a:rPr lang="en-US" sz="1600" b="1" i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Department of Computer Science</a:t>
            </a:r>
            <a:endParaRPr lang="en-IN" sz="1600" b="1" i="1" dirty="0" smtClean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D.B JAIN COLLEGE,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THORAIPAKKAM.</a:t>
            </a: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CHENNAI-600097</a:t>
            </a:r>
          </a:p>
        </p:txBody>
      </p:sp>
    </p:spTree>
    <p:extLst>
      <p:ext uri="{BB962C8B-B14F-4D97-AF65-F5344CB8AC3E}">
        <p14:creationId xmlns:p14="http://schemas.microsoft.com/office/powerpoint/2010/main" val="209215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/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AGENDA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764704"/>
            <a:ext cx="8229600" cy="4752528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Abstract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Structure of Covid-19 Virus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Problem Definition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Research Objectives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Literature Review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Proposed Workflow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Architecture Diagram of Proposed Work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Covid-19 Dataset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Matlab Tool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Proposed Methodologies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Conclusion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Future Enhancement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Contribution to Society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Conferences Attended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Papers Published</a:t>
            </a:r>
          </a:p>
          <a:p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US" sz="1800" dirty="0" smtClean="0"/>
          </a:p>
          <a:p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982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052736"/>
            <a:ext cx="8229600" cy="518457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Covid-19 still continues to be cataclysmic danger to humankind because of new variants.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Image processing techniques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and a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deep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learning model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is implemented to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bring out the detection of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covid19.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 Raw Low Dose CT database Images (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RLD-CTDI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along with the CAD approach to bring out a novel automatic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framework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is used.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remove clamors and disturbances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–Image restoratio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n  algorithm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2D IADBF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used.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To improve the image in terms of brightness and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contrast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PEHI 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used.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53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/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ABSTRACT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After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pre-processing steps a clear noise-free image is obtained for further processing like clustering and thresholding.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obtain the edges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Adaptive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OTSU Thresholding is used.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extract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disease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clusters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i.e. Region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Interest (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ROI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 , 2D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Hybrid-Fuzzy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C-Means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Algorithm (2D HFCM) is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implemented.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Raw Low Dose CT Images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fed as input to the deep learning model.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CLASSIFICATION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2D Iterative Convolutional Neural Network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is used which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categorizes the CT image into covid affected / Non-covid affected image.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10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INTRODUCTION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040560"/>
          </a:xfrm>
        </p:spPr>
        <p:txBody>
          <a:bodyPr>
            <a:noAutofit/>
          </a:bodyPr>
          <a:lstStyle/>
          <a:p>
            <a:pPr algn="just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Computed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Tomography (CT) images are widely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for diagnosing multiple diseases like lung cancer, phenuomia;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covid-19.</a:t>
            </a:r>
          </a:p>
          <a:p>
            <a:pPr algn="just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Covid-19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is a serious global health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issue and spreads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at a rapid rate and affects the overall functioning of the lungs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Early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identification of covid-19 using CT images is a trending topic of research in recent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years.</a:t>
            </a: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There are two main ways of detection of Covid-19</a:t>
            </a: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primary detection is a lab-based approach which involves the analysis of samples of human mucus, throat swabs, deep airway material, blood test, RT-PCR Test etc.</a:t>
            </a: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These samples are processed to several testing like antigen testing, antibody testing, serology test etc. The average sensitivity of these procedures is around 60-71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%.</a:t>
            </a: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secondary category is the usage of medical imaging techniques like CT,X-ray ,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MRI,PET and Chest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radiography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893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64096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      WHY CT SCANS?</a:t>
            </a: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CT images are mainly based on Computed Aided Diagnosis, which are set of automatic decision making system to overcome the problem of manual detection, work pressure and missed nodes during detection.</a:t>
            </a: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This decision making system makes use of iterative grounded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threshold based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techniques</a:t>
            </a:r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Radiologist suggest using CT because of the below reasons like : </a:t>
            </a:r>
          </a:p>
          <a:p>
            <a:pPr marL="1314450" lvl="2" indent="-514350" algn="just">
              <a:buFont typeface="+mj-lt"/>
              <a:buAutoNum type="arabicPeriod"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gives clear image of human body tumours, </a:t>
            </a:r>
          </a:p>
          <a:p>
            <a:pPr marL="1314450" lvl="2" indent="-514350" algn="just">
              <a:buFont typeface="+mj-lt"/>
              <a:buAutoNum type="arabicPeriod"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monitors growing development, </a:t>
            </a:r>
          </a:p>
          <a:p>
            <a:pPr marL="1314450" lvl="2" indent="-514350" algn="just">
              <a:buFont typeface="+mj-lt"/>
              <a:buAutoNum type="arabicPeriod"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good quality,</a:t>
            </a:r>
          </a:p>
          <a:p>
            <a:pPr marL="1314450" lvl="2" indent="-514350" algn="just">
              <a:buFont typeface="+mj-lt"/>
              <a:buAutoNum type="arabicPeriod"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robust, error-free process ,</a:t>
            </a:r>
          </a:p>
          <a:p>
            <a:pPr marL="1314450" lvl="2" indent="-514350" algn="just">
              <a:buFont typeface="+mj-lt"/>
              <a:buAutoNum type="arabicPeriod"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reliable method. </a:t>
            </a: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These reasons make CT images more efficient for early detection .</a:t>
            </a:r>
          </a:p>
          <a:p>
            <a:pPr algn="just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obtained using Computed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Tomography (CT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) are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subjected to various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algorithms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</a:t>
            </a:r>
          </a:p>
          <a:p>
            <a:r>
              <a:rPr lang="en-IN" smtClean="0"/>
              <a:t> Reg No:UP20G9571002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920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STRUCTURE OF COVID-19 VIRUS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7</a:t>
            </a:fld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980728"/>
            <a:ext cx="5593640" cy="4536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1346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836712"/>
            <a:ext cx="8229600" cy="41805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STRUCTURE OF COVID-19 VIRUS </a:t>
            </a:r>
            <a:endParaRPr lang="en-IN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640960" cy="4464496"/>
          </a:xfrm>
        </p:spPr>
        <p:txBody>
          <a:bodyPr>
            <a:normAutofit/>
          </a:bodyPr>
          <a:lstStyle/>
          <a:p>
            <a:pPr algn="just" fontAlgn="base">
              <a:lnSpc>
                <a:spcPct val="110000"/>
              </a:lnSpc>
            </a:pP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11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corona virus particles are organized with long RNA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polymer chain .</a:t>
            </a:r>
          </a:p>
          <a:p>
            <a:pPr algn="just" fontAlgn="base">
              <a:lnSpc>
                <a:spcPct val="11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They are tightly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packed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in  the centre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and surrounded by a protective capsid, which is a lattice of repeated protein molecules referred to as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coat. </a:t>
            </a:r>
          </a:p>
          <a:p>
            <a:pPr algn="just" fontAlgn="base">
              <a:lnSpc>
                <a:spcPct val="11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coat consists of proteins called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nucleocapsid (N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 fontAlgn="base">
              <a:lnSpc>
                <a:spcPct val="11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virus’s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core particle is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surrounded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by an outer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membrane(M) and 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envelope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( E )  made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of lipids (fats) with proteins inserted. 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11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key set of the proteins in the outer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membrane(M) 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project out from the particle and are known as spike proteins (S). 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lnSpc>
                <a:spcPct val="110000"/>
              </a:lnSpc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hese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proteins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recognized by receptor proteins on the host cells which will be infected.</a:t>
            </a:r>
          </a:p>
          <a:p>
            <a:pPr algn="just">
              <a:lnSpc>
                <a:spcPct val="110000"/>
              </a:lnSpc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6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836712"/>
            <a:ext cx="8229600" cy="504056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STRUCTURE OF COVID-19 VIRUS </a:t>
            </a:r>
            <a:endParaRPr lang="en-IN" sz="2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196752"/>
            <a:ext cx="8496944" cy="4752528"/>
          </a:xfrm>
        </p:spPr>
        <p:txBody>
          <a:bodyPr>
            <a:noAutofit/>
          </a:bodyPr>
          <a:lstStyle/>
          <a:p>
            <a:pPr algn="just" fontAlgn="base"/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 virus infects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human lung cells through a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receptor enzyme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called Angiotensin Converting Enzyme 2 (ACE2). </a:t>
            </a:r>
          </a:p>
          <a:p>
            <a:pPr algn="just" fontAlgn="base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virus spike protein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(S) recognizes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and binds to the ACE2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receptor,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leading to viral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infection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 fontAlgn="base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virus is then incorporated into the lung cells and the viral RNA is released into the cytoplasm. </a:t>
            </a:r>
          </a:p>
          <a:p>
            <a:pPr algn="just" fontAlgn="base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viral RNA molecules recruit the cellular apparatus to make thousands of copies of t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viral RNA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 fontAlgn="base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RNA Polymers instruct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cells to synthesize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thousands of nucleocapsid,  membrane, envelope</a:t>
            </a:r>
            <a:r>
              <a:rPr lang="en-IN" sz="1800" u="sng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 and spike proteins.</a:t>
            </a:r>
          </a:p>
          <a:p>
            <a:pPr algn="just" fontAlgn="base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These assemble into new virus particles which bud out of the cell surface membrane. 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cells release the newly formed viral particles propagating the infection and eventually die.</a:t>
            </a: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845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PROBLEM DEFINITION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291264" cy="5400600"/>
          </a:xfrm>
        </p:spPr>
        <p:txBody>
          <a:bodyPr>
            <a:noAutofit/>
          </a:bodyPr>
          <a:lstStyle/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Covid-19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detection is critical because it has a higher risk of spread and raise of new mutants which keeps prevailing till now.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An automated system is required to diagnose Covid-19 . 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key disadvantages of clustering model are the extreme susceptibility to activation and the failures to catch normal in-homogeneity in the lung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areas. 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consequence, it is challenging to provide the clustering model with sufficient instructions to obtain the same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cluster. </a:t>
            </a:r>
          </a:p>
          <a:p>
            <a:pPr algn="just"/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Manual segmentation of CT images is time consuming and has several challenges like texture,size,location of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infection.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disadvantages to this kind of methodologies are the complexity in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distinguishing the lung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partition nodules. 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Major differences in validation accuracies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Reduce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Computation time and complexity in terms of huge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dataset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Poor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illumination and high noise levels.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   PSNR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value is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low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MSE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value is high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10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Ranjani.R (Full-Time) Reg No:UP20G9571002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322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8229600" cy="576064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RESEARCH OBJECTIVES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620688"/>
            <a:ext cx="8229600" cy="561662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To detect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covid-19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in an early stage.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To Design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proper performance based image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Pre-processing algorithms for CT images.</a:t>
            </a: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To Design a 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gradient based infected pixels region clustering module 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To increase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ability of the model without information loss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To show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efficiency of the proposed algorithms by comparing with traditional algorithms through standard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parameters.</a:t>
            </a: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show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that the model is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independent and novel from existing works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develop an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automated approach  based on deep models for faster examination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 design a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ully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automated and efficient method, to classify COVID-19 infections using lung CT images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compare the Image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egmentation accuracy with Deep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earning (Classification) accuracy 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11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42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562074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LITERATURE REVIEW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175;p23"/>
          <p:cNvSpPr txBox="1">
            <a:spLocks noGrp="1"/>
          </p:cNvSpPr>
          <p:nvPr>
            <p:ph type="sldNum" idx="12"/>
          </p:nvPr>
        </p:nvSpPr>
        <p:spPr>
          <a:xfrm>
            <a:off x="8388424" y="6309320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sp>
        <p:nvSpPr>
          <p:cNvPr id="6" name="Google Shape;182;p23"/>
          <p:cNvSpPr txBox="1"/>
          <p:nvPr/>
        </p:nvSpPr>
        <p:spPr>
          <a:xfrm>
            <a:off x="4672075" y="1153125"/>
            <a:ext cx="1578000" cy="5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Vestibulum congue </a:t>
            </a:r>
            <a:endParaRPr sz="10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85;p23"/>
          <p:cNvSpPr txBox="1"/>
          <p:nvPr/>
        </p:nvSpPr>
        <p:spPr>
          <a:xfrm rot="3725110" flipH="1">
            <a:off x="3755527" y="2863871"/>
            <a:ext cx="1577671" cy="56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Vestbulum </a:t>
            </a:r>
            <a:r>
              <a:rPr lang="en" sz="1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congue </a:t>
            </a:r>
            <a:endParaRPr sz="10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203576"/>
              </p:ext>
            </p:extLst>
          </p:nvPr>
        </p:nvGraphicFramePr>
        <p:xfrm>
          <a:off x="467544" y="836712"/>
          <a:ext cx="8280920" cy="5023434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224136"/>
                <a:gridCol w="1008112"/>
                <a:gridCol w="1296144"/>
                <a:gridCol w="1008112"/>
                <a:gridCol w="1080120"/>
                <a:gridCol w="1224136"/>
                <a:gridCol w="1440160"/>
              </a:tblGrid>
              <a:tr h="64012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Reference paper  &amp; year </a:t>
                      </a:r>
                      <a:endParaRPr lang="en-IN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Problem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Identification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Author’s Proposed System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Methodology used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Results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47936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Automatic</a:t>
                      </a:r>
                      <a:r>
                        <a:rPr lang="en-US" sz="12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Lung Segmentation in low-dose chest CT scans using convolutional deep and wide network (CDWN),</a:t>
                      </a:r>
                    </a:p>
                    <a:p>
                      <a:pPr algn="ctr"/>
                      <a:r>
                        <a:rPr lang="en-US" sz="12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Springer,2018</a:t>
                      </a:r>
                      <a:endParaRPr lang="en-US" sz="12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Akila</a:t>
                      </a:r>
                    </a:p>
                    <a:p>
                      <a:pPr algn="ctr"/>
                      <a:r>
                        <a:rPr lang="en-US" sz="12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and </a:t>
                      </a:r>
                    </a:p>
                    <a:p>
                      <a:pPr algn="ctr"/>
                      <a:r>
                        <a:rPr lang="en-US" sz="12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Anitha</a:t>
                      </a:r>
                      <a:endParaRPr lang="en-US" sz="12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In need</a:t>
                      </a:r>
                      <a:r>
                        <a:rPr lang="en-US" sz="12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of earlier lung segmentation     and performance accuracy </a:t>
                      </a:r>
                      <a:endParaRPr lang="en-IN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b="1" dirty="0" smtClean="0">
                          <a:latin typeface="Times New Roman" pitchFamily="18" charset="0"/>
                          <a:cs typeface="Times New Roman" pitchFamily="18" charset="0"/>
                        </a:rPr>
                        <a:t>To Segment</a:t>
                      </a:r>
                      <a:r>
                        <a:rPr lang="en-US" sz="12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lung region from chest CT for further medical diagnosis </a:t>
                      </a:r>
                      <a:endParaRPr lang="en-IN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b="1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Convolutional Deep and Wide Network</a:t>
                      </a:r>
                    </a:p>
                    <a:p>
                      <a:pPr algn="ctr"/>
                      <a:r>
                        <a:rPr lang="en-US" sz="1200" b="1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(CDWN) </a:t>
                      </a:r>
                      <a:endParaRPr lang="en-IN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Dice-coefficient </a:t>
                      </a:r>
                      <a:r>
                        <a:rPr lang="en-IN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0.95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Accuracy-97.6%</a:t>
                      </a:r>
                      <a:endParaRPr lang="en-IN" sz="12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1)Segmentation accuracy could be improved even with deep network and GPU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2)Higher dimension in segmentation could be done with 3D lung reconstruction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b="1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</a:tr>
              <a:tr h="190394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Inf-Net</a:t>
                      </a:r>
                      <a:endParaRPr lang="en-US" sz="1200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Automatic Lung Infection Segmentation from CT Images  IEEE , Dec 31, 2020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Deng-Ping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Fan and</a:t>
                      </a:r>
                    </a:p>
                    <a:p>
                      <a:pPr algn="ctr"/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Tao Zhou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Segmenting infected regions from CT Slices faces several challenges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To automatically identify infected regions from chest CT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 novel-Lung Infection Segmentation Deep Network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Dice-0.597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Sensitivity-0.86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Specificity-0.977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Precision-0.515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MAE-0.033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1)A bit drop in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accuracy when compared to slice-wise classifier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 </a:t>
                      </a:r>
                      <a:r>
                        <a:rPr lang="en-IN" sz="1200" dirty="0" smtClean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2)High </a:t>
                      </a:r>
                      <a:r>
                        <a:rPr lang="en-IN" sz="12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intensity contrast images could be used 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458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4;p23"/>
          <p:cNvSpPr txBox="1">
            <a:spLocks/>
          </p:cNvSpPr>
          <p:nvPr/>
        </p:nvSpPr>
        <p:spPr>
          <a:xfrm>
            <a:off x="539552" y="332656"/>
            <a:ext cx="8280920" cy="43204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LITERATURE REVIEW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175;p23"/>
          <p:cNvSpPr txBox="1">
            <a:spLocks noGrp="1"/>
          </p:cNvSpPr>
          <p:nvPr>
            <p:ph type="sldNum" idx="12"/>
          </p:nvPr>
        </p:nvSpPr>
        <p:spPr>
          <a:xfrm>
            <a:off x="8388424" y="6165304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 dirty="0"/>
          </a:p>
        </p:txBody>
      </p:sp>
      <p:sp>
        <p:nvSpPr>
          <p:cNvPr id="6" name="Google Shape;182;p23"/>
          <p:cNvSpPr txBox="1"/>
          <p:nvPr/>
        </p:nvSpPr>
        <p:spPr>
          <a:xfrm>
            <a:off x="4672075" y="2370415"/>
            <a:ext cx="1578000" cy="5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Vestibulum congue </a:t>
            </a:r>
            <a:endParaRPr sz="10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185;p23"/>
          <p:cNvSpPr txBox="1"/>
          <p:nvPr/>
        </p:nvSpPr>
        <p:spPr>
          <a:xfrm rot="3725110" flipH="1">
            <a:off x="3755527" y="4081161"/>
            <a:ext cx="1577671" cy="563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 smtClean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Vestbulum </a:t>
            </a:r>
            <a:r>
              <a:rPr lang="en" sz="10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congue </a:t>
            </a:r>
            <a:endParaRPr sz="10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208241"/>
              </p:ext>
            </p:extLst>
          </p:nvPr>
        </p:nvGraphicFramePr>
        <p:xfrm>
          <a:off x="571802" y="764704"/>
          <a:ext cx="8200546" cy="485313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224136"/>
                <a:gridCol w="1008112"/>
                <a:gridCol w="1296144"/>
                <a:gridCol w="1008112"/>
                <a:gridCol w="1080120"/>
                <a:gridCol w="1224136"/>
                <a:gridCol w="1359786"/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Reference paper  &amp; year </a:t>
                      </a:r>
                      <a:endParaRPr lang="en-IN" sz="12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Problem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Identification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Author’s Proposed System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Methodology used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Results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2292816"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Classification of pulmonary CT Images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by using Hybrid 3D Deep CNN Architecture,  MDPI , Applied Sciences,2019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Huseyin Polat 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And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Humay Danaei</a:t>
                      </a:r>
                    </a:p>
                    <a:p>
                      <a:pPr algn="ctr"/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Conventional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ML Techniques using Feature Extraction on CT Images are complicated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Deep Learning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under ML by using Automatic Feature Extraction minimizes the process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3D-GoogleNet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3D-GoogleNet</a:t>
                      </a:r>
                      <a:endParaRPr lang="en-IN" sz="12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Accuracy-87.95%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Sensitivity-82.74%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Specificity-91.61%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Precision-88.36%</a:t>
                      </a:r>
                      <a:endParaRPr lang="en-IN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IN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Deep </a:t>
                      </a: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learning based RBF classifier could improve the performance of CNN Architecture in classification of 3D lung CT </a:t>
                      </a:r>
                      <a:r>
                        <a:rPr lang="en-IN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scanning</a:t>
                      </a: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8301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Automatic Detection and Staging of Lung Tumors using Locational Features and double staged Classification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, Applied Sci,June2019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May Phu Paing 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And 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Kazuhiko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Hamamoto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Manual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staging of cancer remains a challenge due to intensive effort required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   CAD for detecting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and staging cancer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Back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Propagation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Neural Network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Avg.Accuracy-92.8%</a:t>
                      </a:r>
                      <a:r>
                        <a:rPr lang="en-IN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for detection</a:t>
                      </a:r>
                    </a:p>
                    <a:p>
                      <a:pPr algn="ctr"/>
                      <a:endParaRPr lang="en-US" sz="1200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90.6% for staging</a:t>
                      </a:r>
                      <a:endParaRPr lang="en-IN" sz="1200" baseline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1)Need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background knowledge for anatomical lung structure</a:t>
                      </a:r>
                    </a:p>
                    <a:p>
                      <a:pPr algn="ctr"/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2)Open issues can be upgraded for N&amp;M staging of lung cancer</a:t>
                      </a: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9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LITERATURE REVIEW</a:t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endParaRPr lang="en-IN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776138"/>
              </p:ext>
            </p:extLst>
          </p:nvPr>
        </p:nvGraphicFramePr>
        <p:xfrm>
          <a:off x="539552" y="764704"/>
          <a:ext cx="8280920" cy="5184576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224136"/>
                <a:gridCol w="1152128"/>
                <a:gridCol w="1440160"/>
                <a:gridCol w="936104"/>
                <a:gridCol w="936104"/>
                <a:gridCol w="1368152"/>
                <a:gridCol w="1224136"/>
              </a:tblGrid>
              <a:tr h="65391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Reference paper &amp; year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Author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Problem Identification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Author’s Proposed System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used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Results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Limitations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19617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Ultrasound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Image </a:t>
                      </a:r>
                    </a:p>
                    <a:p>
                      <a:pPr algn="ctr"/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De-noising </a:t>
                      </a:r>
                    </a:p>
                    <a:p>
                      <a:pPr algn="ctr"/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wavelet threshold methods</a:t>
                      </a:r>
                    </a:p>
                    <a:p>
                      <a:pPr algn="ctr"/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Bilateral Filter , IEEE Latin and America, Nov 2019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C. Rodrigues</a:t>
                      </a:r>
                    </a:p>
                    <a:p>
                      <a:pPr algn="ctr"/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    and</a:t>
                      </a:r>
                    </a:p>
                    <a:p>
                      <a:pPr algn="ctr"/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 Z.Peixoto</a:t>
                      </a:r>
                    </a:p>
                    <a:p>
                      <a:pPr algn="ctr"/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Previous methods are not estimating the structural features and contour preservation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New association based on Smedian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Thresholding and Fast BF to remove Speckle Noise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Thresholding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    Methods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PSNR-14.13% increase in structural features 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contour preservation increase in 4.96%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MSSIM-0.70% in β</a:t>
                      </a:r>
                      <a:endParaRPr lang="en-IN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Principle contribution for better thresholding</a:t>
                      </a:r>
                      <a:endParaRPr lang="en-IN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568913"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An Appraisal of Lung Nodule’s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Automatic Classification Algorithm for CT Images, MDPI, Applied science,2019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Xinqi Wang 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And </a:t>
                      </a: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    Keming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Mao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Early Detection and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Reliability of Manual CT Images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Modern Computer Vision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and ML on CT Images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2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200" dirty="0" smtClean="0">
                          <a:latin typeface="Times New Roman" pitchFamily="18" charset="0"/>
                          <a:cs typeface="Times New Roman" pitchFamily="18" charset="0"/>
                        </a:rPr>
                        <a:t>3D Feature</a:t>
                      </a:r>
                      <a:r>
                        <a:rPr lang="en-US" sz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based Method </a:t>
                      </a:r>
                      <a:endParaRPr lang="en-IN" sz="1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Difference </a:t>
                      </a: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 accuracies using different Databases</a:t>
                      </a:r>
                      <a:endParaRPr lang="en-IN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2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1)To </a:t>
                      </a: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deal with noises and uncertain annotations </a:t>
                      </a:r>
                      <a:endParaRPr lang="en-IN" sz="12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12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2)To </a:t>
                      </a:r>
                      <a:r>
                        <a:rPr lang="en-US" sz="12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deal with anatomical locations of regions</a:t>
                      </a:r>
                      <a:endParaRPr lang="en-IN" sz="12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14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13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5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PROPOSED WORKFLOW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15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84168" y="3140968"/>
            <a:ext cx="2831976" cy="757807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128016" tIns="128016" rIns="128016" bIns="12801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kern="1200" dirty="0" smtClean="0">
                <a:latin typeface="Times New Roman" pitchFamily="18" charset="0"/>
                <a:cs typeface="Times New Roman" pitchFamily="18" charset="0"/>
              </a:rPr>
              <a:t>CLASSIFICATION </a:t>
            </a:r>
            <a:endParaRPr lang="en-IN" sz="1800" kern="1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2724274960"/>
              </p:ext>
            </p:extLst>
          </p:nvPr>
        </p:nvGraphicFramePr>
        <p:xfrm>
          <a:off x="1619672" y="1052736"/>
          <a:ext cx="6096000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5865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720080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ARCHITECTURE DIAGRAM OF PROPOSED WORK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16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385" y="980728"/>
            <a:ext cx="8502910" cy="4536504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266372" y="2060848"/>
            <a:ext cx="978408" cy="48463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PHASE -I</a:t>
            </a:r>
            <a:endParaRPr lang="en-IN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179512" y="4581128"/>
            <a:ext cx="1035856" cy="484632"/>
          </a:xfrm>
          <a:prstGeom prst="right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Times New Roman" pitchFamily="18" charset="0"/>
                <a:cs typeface="Times New Roman" pitchFamily="18" charset="0"/>
              </a:rPr>
              <a:t>PHASE -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II</a:t>
            </a:r>
            <a:endParaRPr lang="en-IN" sz="12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23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COVID-19 DATASET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908720"/>
            <a:ext cx="8229600" cy="5184576"/>
          </a:xfrm>
        </p:spPr>
        <p:txBody>
          <a:bodyPr>
            <a:normAutofit/>
          </a:bodyPr>
          <a:lstStyle/>
          <a:p>
            <a:pPr algn="just"/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Covid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lung CT images were obtained from the publicly available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Real-Time Imaging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Archive dataset 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1800" u="sng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</a:t>
            </a:r>
            <a:r>
              <a:rPr lang="en-IN" sz="1800" u="sng" dirty="0">
                <a:latin typeface="Times New Roman" pitchFamily="18" charset="0"/>
                <a:cs typeface="Times New Roman" pitchFamily="18" charset="0"/>
                <a:hlinkClick r:id="rId2"/>
              </a:rPr>
              <a:t>://</a:t>
            </a:r>
            <a:r>
              <a:rPr lang="en-IN" sz="1800" u="sng" dirty="0" smtClean="0">
                <a:latin typeface="Times New Roman" pitchFamily="18" charset="0"/>
                <a:cs typeface="Times New Roman" pitchFamily="18" charset="0"/>
                <a:hlinkClick r:id="rId2"/>
              </a:rPr>
              <a:t>onlinelibrary.wiley.com/doi/10.1002/emp2.12073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Journal of the American Col1ege of Emergency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Physicians)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Total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number of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COVID-19 CT images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training and testing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– 700 out of which 444 are covid and 238 are non-covid images</a:t>
            </a:r>
          </a:p>
          <a:p>
            <a:pPr algn="just"/>
            <a:r>
              <a:rPr lang="en-US" sz="1800" i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Proper </a:t>
            </a:r>
            <a:r>
              <a:rPr lang="en-US" sz="1800" i="1" dirty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Attestation with Doctor’s sign and seal is provided for Research </a:t>
            </a:r>
            <a:r>
              <a:rPr lang="en-US" sz="1800" i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Authentication.</a:t>
            </a:r>
          </a:p>
          <a:p>
            <a:pPr marL="0" indent="0" algn="ctr">
              <a:buNone/>
            </a:pPr>
            <a:endParaRPr lang="en-US" sz="1800" b="1" dirty="0" smtClean="0">
              <a:solidFill>
                <a:schemeClr val="accent6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8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MATLAB TOOL</a:t>
            </a:r>
          </a:p>
          <a:p>
            <a:pPr marL="0" indent="0" algn="ctr">
              <a:buNone/>
            </a:pPr>
            <a:r>
              <a:rPr lang="en-US" sz="18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research work used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MATLAB software on a Windows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computer with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 the Intel i3 CPU and 6GB of RAM.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17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95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PROPOSED METHODOLOGIES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435280" cy="5001419"/>
          </a:xfrm>
        </p:spPr>
        <p:txBody>
          <a:bodyPr>
            <a:normAutofit/>
          </a:bodyPr>
          <a:lstStyle/>
          <a:p>
            <a:pPr marL="114300" indent="0" algn="just">
              <a:lnSpc>
                <a:spcPct val="120000"/>
              </a:lnSpc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Phase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1: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Image Processing </a:t>
            </a: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1: Image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Pre-processing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i) Image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Restoration using 2D Improved Anisotropic Bilateral Filter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2D IADBF)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ii) Image Enhancement using 2D Edge Preservation Efficient Histogram Processing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2D EPEHI)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2 :Extraction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of Region of Interest (ROI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i) Image Thresholding using 2D Adaptive OTSU Thresholding (2D AOT)</a:t>
            </a: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ii)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Image Clustering using 2D Hybrid Fuzzy C-Means (2D HFCM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Phase 2 :Deep learning For 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Classification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20000"/>
              </a:lnSpc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i)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Classification using 2D Iterative Convolutional Neural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Network (2D ICNN)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18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13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pPr marL="0" indent="0"/>
            <a:r>
              <a:rPr lang="en-US" sz="20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PHASE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1:IMAGE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PROCESSING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STEP1:IMAGE PRE-PROCESSING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solidFill>
                  <a:schemeClr val="accent6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endParaRPr lang="en-IN" sz="20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84784"/>
            <a:ext cx="8496944" cy="4464496"/>
          </a:xfrm>
        </p:spPr>
        <p:txBody>
          <a:bodyPr>
            <a:noAutofit/>
          </a:bodyPr>
          <a:lstStyle/>
          <a:p>
            <a:pPr marL="11430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i) Image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Restoration using 2D Improved Anisotropic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Diffusion  Bilateral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Filter </a:t>
            </a:r>
          </a:p>
          <a:p>
            <a:pPr marL="11430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(2D IADBF)</a:t>
            </a:r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Image Restoration is done to filter out the noise from the lung CT images.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is done based on the combination of anisotropic diffusion model and the bilateral filter.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Restoration algorithm is a combination of Spatial and Frequency domain making it an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Spacio-Frequency Domain ( i.e. Bilateral + Anisotropic).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Anisotropic – being an spatial domain removes noise and preserves gradient information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Bilateral – performance in speckle noise detection is very high.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Therefore the improved variation form of filtering is the 2D Improved Anisotropic Diffusion  Bilateral Filtering algorithm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implemented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19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712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116632"/>
            <a:ext cx="8229600" cy="1143000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PHASE 1:IMAGE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PRE-PROCESSING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08720"/>
            <a:ext cx="8568952" cy="518457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Algorithm 1: 2D Improved Anisotropic Diffusion Bilateral Filter </a:t>
            </a:r>
            <a:endParaRPr lang="en-IN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2D IADBF)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Input: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Input noisy CT lung image 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Steps:</a:t>
            </a:r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1: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given input image define the anisotropic diffusion model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Equation (1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						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					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..……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(1)</a:t>
            </a:r>
          </a:p>
          <a:p>
            <a:pPr marL="0" lv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				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2 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diffusion coefficient is generated based on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gradient function using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					                 .....…..(2)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					</a:t>
            </a:r>
          </a:p>
          <a:p>
            <a:pPr marL="0" lv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3 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gradient function is modified using bilateral function as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					                ………(3)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1" y="1988840"/>
            <a:ext cx="889215" cy="266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877" y="3199532"/>
            <a:ext cx="4690114" cy="693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000" y="4255571"/>
            <a:ext cx="1950216" cy="360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572" y="5301208"/>
            <a:ext cx="2422555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59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Algorithm 1: 2D Improved Anisotropic Diffusion Bilateral Filter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2D IADBF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811" y="1196752"/>
            <a:ext cx="8229600" cy="4925144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4 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bilateral function is defined using the gradient function to enable accurate noise filtration using Equation (4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0" lvl="0" indent="0" algn="just"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					                        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……….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4)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 5  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Finally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, the filtered image  is obtained using 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		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						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					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                          ……….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(5)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Filtered image </a:t>
            </a:r>
          </a:p>
          <a:p>
            <a:pPr marL="0" indent="0" algn="just"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656" y="2132856"/>
            <a:ext cx="3491590" cy="600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284984"/>
            <a:ext cx="4707946" cy="661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176763"/>
            <a:ext cx="1008112" cy="278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581128"/>
            <a:ext cx="8208912" cy="1804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21</a:t>
            </a:fld>
            <a:endParaRPr lang="en-IN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13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Table 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1. Comparison of </a:t>
            </a:r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Peak-Signal Noise Ratio (PSNR) and</a:t>
            </a:r>
            <a:br>
              <a:rPr lang="en-IN" sz="2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200" b="1" dirty="0" smtClean="0">
                <a:latin typeface="Times New Roman" pitchFamily="18" charset="0"/>
                <a:cs typeface="Times New Roman" pitchFamily="18" charset="0"/>
              </a:rPr>
              <a:t> Mean Square Error MSE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453204"/>
              </p:ext>
            </p:extLst>
          </p:nvPr>
        </p:nvGraphicFramePr>
        <p:xfrm>
          <a:off x="1331640" y="980728"/>
          <a:ext cx="6408711" cy="4849102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136237"/>
                <a:gridCol w="2136237"/>
                <a:gridCol w="2136237"/>
              </a:tblGrid>
              <a:tr h="59409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33400" algn="l"/>
                          <a:tab pos="925195" algn="ctr"/>
                        </a:tabLst>
                      </a:pPr>
                      <a:r>
                        <a:rPr lang="en-IN" sz="1600" cap="all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33400" algn="l"/>
                          <a:tab pos="925195" algn="ctr"/>
                        </a:tabLst>
                      </a:pPr>
                      <a:r>
                        <a:rPr lang="en-IN" sz="1600" cap="all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FILTER NAME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cap="all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cap="all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PSNR(dB)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cap="all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cap="all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rMSE (no units)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781188">
                <a:tc>
                  <a:txBody>
                    <a:bodyPr/>
                    <a:lstStyle/>
                    <a:p>
                      <a:pPr algn="ctr"/>
                      <a:endParaRPr lang="en-US" sz="16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2D</a:t>
                      </a:r>
                      <a:r>
                        <a:rPr lang="en-US" sz="1600" b="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Adaptive Median Filtering(2D AMF)</a:t>
                      </a:r>
                      <a:endParaRPr lang="en-IN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23.13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 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0.056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820911">
                <a:tc>
                  <a:txBody>
                    <a:bodyPr/>
                    <a:lstStyle/>
                    <a:p>
                      <a:pPr algn="ctr"/>
                      <a:endParaRPr lang="en-US" sz="16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2D Log Gabor Filtering(2D LGF)</a:t>
                      </a:r>
                    </a:p>
                    <a:p>
                      <a:pPr algn="ctr"/>
                      <a:endParaRPr lang="en-IN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28.72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 </a:t>
                      </a:r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0.021</a:t>
                      </a:r>
                      <a:endParaRPr lang="en-IN" sz="1600" dirty="0">
                        <a:effectLst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1026140">
                <a:tc>
                  <a:txBody>
                    <a:bodyPr/>
                    <a:lstStyle/>
                    <a:p>
                      <a:pPr algn="ctr"/>
                      <a:endParaRPr lang="en-US" sz="1600" b="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2D Frequency Domain Wavelet Filtering</a:t>
                      </a:r>
                    </a:p>
                    <a:p>
                      <a:pPr algn="ctr"/>
                      <a:r>
                        <a:rPr lang="en-US" sz="1600" b="0" dirty="0" smtClean="0">
                          <a:latin typeface="Times New Roman" pitchFamily="18" charset="0"/>
                          <a:cs typeface="Times New Roman" pitchFamily="18" charset="0"/>
                        </a:rPr>
                        <a:t>(2D FDWF)</a:t>
                      </a:r>
                    </a:p>
                    <a:p>
                      <a:pPr algn="ctr"/>
                      <a:endParaRPr lang="en-IN" sz="16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22.24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0.015 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1026140">
                <a:tc>
                  <a:txBody>
                    <a:bodyPr/>
                    <a:lstStyle/>
                    <a:p>
                      <a:pPr algn="ctr"/>
                      <a:endParaRPr lang="en-US" sz="1600" dirty="0" smtClean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/>
                      <a:r>
                        <a:rPr lang="en-US" sz="1600" dirty="0" smtClean="0">
                          <a:latin typeface="Times New Roman" pitchFamily="18" charset="0"/>
                          <a:cs typeface="Times New Roman" pitchFamily="18" charset="0"/>
                        </a:rPr>
                        <a:t>2D</a:t>
                      </a:r>
                      <a:r>
                        <a:rPr lang="en-US" sz="16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Improved Anisotropic Diffusion Bilateral Filtering</a:t>
                      </a:r>
                    </a:p>
                    <a:p>
                      <a:pPr algn="ctr"/>
                      <a:r>
                        <a:rPr lang="en-US" sz="16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(2D IADBF)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 smtClean="0">
                          <a:effectLst/>
                        </a:rPr>
                        <a:t>48.72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 smtClean="0">
                          <a:latin typeface="Times New Roman" pitchFamily="18" charset="0"/>
                          <a:cs typeface="Times New Roman" pitchFamily="18" charset="0"/>
                        </a:rPr>
                        <a:t>0.005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7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504056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COMPARISON GRAPHS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6510" y="4077072"/>
            <a:ext cx="4438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Graph 1: PROCESSING TIME GRAPH</a:t>
            </a:r>
          </a:p>
          <a:p>
            <a:pPr algn="ctr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X-axis=Filtering Algorithms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Y-axis=Processing Time in ms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60032" y="4077072"/>
            <a:ext cx="4143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Graph 2: Peak-Signal Noise Ratio           	(PSNR) GRAPH </a:t>
            </a:r>
          </a:p>
          <a:p>
            <a:pPr algn="ctr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X-axis=Filtering Algorithms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Y-axis=PSNR in dB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10" y="620688"/>
            <a:ext cx="443865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929" y="606286"/>
            <a:ext cx="4143375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161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Graph 3 Comparison Of Root Mean Square Error  (RMSE)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3688" y="1268760"/>
            <a:ext cx="5832648" cy="3364433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71800" y="4906034"/>
            <a:ext cx="3963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X-axis =Iterations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Y-axis=Root Mean Square Error(RMSE)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48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332656"/>
            <a:ext cx="9001000" cy="1440160"/>
          </a:xfrm>
        </p:spPr>
        <p:txBody>
          <a:bodyPr>
            <a:normAutofit fontScale="90000"/>
          </a:bodyPr>
          <a:lstStyle/>
          <a:p>
            <a:r>
              <a:rPr lang="en-US" sz="31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Phase1:Step1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: ii)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Image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Enhancement using 2D Edge Preservation Efficient Histogram Processing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2D EPEHI)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200" b="1" dirty="0">
                <a:latin typeface="Times New Roman" pitchFamily="18" charset="0"/>
                <a:cs typeface="Times New Roman" pitchFamily="18" charset="0"/>
              </a:rPr>
            </a:br>
            <a:endParaRPr lang="en-IN" sz="2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772816"/>
            <a:ext cx="8640960" cy="3861048"/>
          </a:xfrm>
        </p:spPr>
        <p:txBody>
          <a:bodyPr>
            <a:noAutofit/>
          </a:bodyPr>
          <a:lstStyle/>
          <a:p>
            <a:pPr marL="425450" indent="-285750"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Image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Enhancement is done to improve the overall contrast of the image. 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425450" indent="-285750"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aim of the proposed algorithm is the perform histogram improvement along with the edge preservation. 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425450" indent="-285750"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filtered image is then divided into sub-blocks of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equal size say nxn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425450" indent="-285750"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sub-block is represented as a 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window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425450" indent="-285750"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each sub-block, the Tenengrad criterion is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computed.   </a:t>
            </a:r>
          </a:p>
          <a:p>
            <a:pPr marL="425450" indent="-285750"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Based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on this value, the image is partitioned into 4 regions. </a:t>
            </a: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56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316373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ii) Image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Enhancement using 2D Edge Preservation Efficient Histogram Processing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2D EPEHI)</a:t>
            </a:r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200" b="1" dirty="0">
                <a:latin typeface="Times New Roman" pitchFamily="18" charset="0"/>
                <a:cs typeface="Times New Roman" pitchFamily="18" charset="0"/>
              </a:rPr>
            </a:br>
            <a:endParaRPr lang="en-I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484784"/>
                <a:ext cx="8445624" cy="4493096"/>
              </a:xfrm>
            </p:spPr>
            <p:txBody>
              <a:bodyPr>
                <a:normAutofit/>
              </a:bodyPr>
              <a:lstStyle/>
              <a:p>
                <a:pPr marL="425450" indent="-285750" algn="just">
                  <a:lnSpc>
                    <a:spcPct val="120000"/>
                  </a:lnSpc>
                </a:pPr>
                <a:r>
                  <a:rPr lang="en-IN" sz="1800" dirty="0" smtClean="0">
                    <a:latin typeface="Times New Roman" pitchFamily="18" charset="0"/>
                    <a:cs typeface="Times New Roman" pitchFamily="18" charset="0"/>
                  </a:rPr>
                  <a:t>This </a:t>
                </a:r>
                <a:r>
                  <a:rPr lang="en-IN" sz="1800" dirty="0">
                    <a:latin typeface="Times New Roman" pitchFamily="18" charset="0"/>
                    <a:cs typeface="Times New Roman" pitchFamily="18" charset="0"/>
                  </a:rPr>
                  <a:t>partition is done based on three threshold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i="1">
                            <a:latin typeface="Cambria Math"/>
                            <a:cs typeface="Times New Roman" pitchFamily="18" charset="0"/>
                          </a:rPr>
                          <m:t>1  ,  </m:t>
                        </m:r>
                      </m:sub>
                    </m:sSub>
                  </m:oMath>
                </a14:m>
                <a:r>
                  <a:rPr lang="en-IN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i="1" dirty="0">
                            <a:latin typeface="Cambria Math"/>
                            <a:cs typeface="Times New Roman" pitchFamily="18" charset="0"/>
                          </a:rPr>
                          <m:t>2   </m:t>
                        </m:r>
                      </m:sub>
                    </m:sSub>
                    <m:r>
                      <a:rPr lang="en-US" sz="1800" i="1" dirty="0">
                        <a:latin typeface="Cambria Math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dirty="0">
                        <a:latin typeface="Cambria Math"/>
                        <a:cs typeface="Times New Roman" pitchFamily="18" charset="0"/>
                      </a:rPr>
                      <m:t>and</m:t>
                    </m:r>
                    <m:r>
                      <a:rPr lang="en-US" sz="1800" dirty="0">
                        <a:latin typeface="Cambria Math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sz="1800" i="1" dirty="0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1800" i="1" dirty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sz="18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425450" indent="-285750" algn="just">
                  <a:lnSpc>
                    <a:spcPct val="120000"/>
                  </a:lnSpc>
                </a:pPr>
                <a:r>
                  <a:rPr lang="en-IN" sz="1800" dirty="0" smtClean="0"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IN" sz="1800" dirty="0">
                    <a:latin typeface="Times New Roman" pitchFamily="18" charset="0"/>
                    <a:cs typeface="Times New Roman" pitchFamily="18" charset="0"/>
                  </a:rPr>
                  <a:t>next step is the computation of histogram for the four </a:t>
                </a:r>
                <a:r>
                  <a:rPr lang="en-IN" sz="1800" dirty="0" smtClean="0">
                    <a:latin typeface="Times New Roman" pitchFamily="18" charset="0"/>
                    <a:cs typeface="Times New Roman" pitchFamily="18" charset="0"/>
                  </a:rPr>
                  <a:t>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  <a:cs typeface="Times New Roman" pitchFamily="18" charset="0"/>
                          </a:rPr>
                          <m:t>h𝑚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  <a:cs typeface="Times New Roman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1800" dirty="0" smtClean="0">
                    <a:latin typeface="Times New Roman" pitchFamily="18" charset="0"/>
                    <a:cs typeface="Times New Roman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  <a:cs typeface="Times New Roman" pitchFamily="18" charset="0"/>
                          </a:rPr>
                          <m:t>h𝑚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  <a:cs typeface="Times New Roman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1800" dirty="0" smtClean="0">
                    <a:latin typeface="Times New Roman" pitchFamily="18" charset="0"/>
                    <a:cs typeface="Times New Roman" pitchFamily="18" charset="0"/>
                  </a:rPr>
                  <a:t>,</a:t>
                </a:r>
                <a:r>
                  <a:rPr lang="en-IN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  <a:cs typeface="Times New Roman" pitchFamily="18" charset="0"/>
                          </a:rPr>
                          <m:t>h𝑚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  <a:cs typeface="Times New Roman" pitchFamily="18" charset="0"/>
                          </a:rPr>
                          <m:t>3 </m:t>
                        </m:r>
                      </m:sub>
                    </m:sSub>
                  </m:oMath>
                </a14:m>
                <a:r>
                  <a:rPr lang="en-IN" sz="1800" dirty="0" smtClean="0">
                    <a:latin typeface="Times New Roman" pitchFamily="18" charset="0"/>
                    <a:cs typeface="Times New Roman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  <a:cs typeface="Times New Roman" pitchFamily="18" charset="0"/>
                          </a:rPr>
                          <m:t>h𝑚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  <a:cs typeface="Times New Roman" pitchFamily="18" charset="0"/>
                          </a:rPr>
                          <m:t>4</m:t>
                        </m:r>
                      </m:sub>
                    </m:sSub>
                    <m:r>
                      <a:rPr lang="en-US" sz="1800" b="0" i="0" smtClean="0">
                        <a:latin typeface="Cambria Math"/>
                        <a:cs typeface="Times New Roman" pitchFamily="18" charset="0"/>
                      </a:rPr>
                      <m:t>.</m:t>
                    </m:r>
                  </m:oMath>
                </a14:m>
                <a:endParaRPr lang="en-US" sz="1800" b="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425450" indent="-285750" algn="just">
                  <a:lnSpc>
                    <a:spcPct val="120000"/>
                  </a:lnSpc>
                </a:pPr>
                <a:r>
                  <a:rPr lang="en-IN" sz="1800" dirty="0" smtClean="0">
                    <a:latin typeface="Times New Roman" pitchFamily="18" charset="0"/>
                    <a:cs typeface="Times New Roman" pitchFamily="18" charset="0"/>
                  </a:rPr>
                  <a:t>Hence</a:t>
                </a:r>
                <a:r>
                  <a:rPr lang="en-IN" sz="1800" dirty="0">
                    <a:latin typeface="Times New Roman" pitchFamily="18" charset="0"/>
                    <a:cs typeface="Times New Roman" pitchFamily="18" charset="0"/>
                  </a:rPr>
                  <a:t>, the </a:t>
                </a:r>
                <a:r>
                  <a:rPr lang="en-IN" sz="1800" dirty="0" smtClean="0">
                    <a:latin typeface="Times New Roman" pitchFamily="18" charset="0"/>
                    <a:cs typeface="Times New Roman" pitchFamily="18" charset="0"/>
                  </a:rPr>
                  <a:t>Modified Histogram(MH) is </a:t>
                </a:r>
                <a:r>
                  <a:rPr lang="en-IN" sz="1800" dirty="0">
                    <a:latin typeface="Times New Roman" pitchFamily="18" charset="0"/>
                    <a:cs typeface="Times New Roman" pitchFamily="18" charset="0"/>
                  </a:rPr>
                  <a:t>formed as the weighted sum of the first three regions. </a:t>
                </a:r>
              </a:p>
              <a:p>
                <a:pPr marL="425450" indent="-285750" algn="just">
                  <a:lnSpc>
                    <a:spcPct val="120000"/>
                  </a:lnSpc>
                </a:pPr>
                <a:r>
                  <a:rPr lang="en-IN" sz="1800" dirty="0">
                    <a:latin typeface="Times New Roman" pitchFamily="18" charset="0"/>
                    <a:cs typeface="Times New Roman" pitchFamily="18" charset="0"/>
                  </a:rPr>
                  <a:t>This is because the edge information is the highest in these regions</a:t>
                </a:r>
              </a:p>
              <a:p>
                <a:pPr marL="425450" indent="-285750" algn="just">
                  <a:lnSpc>
                    <a:spcPct val="120000"/>
                  </a:lnSpc>
                </a:pP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The Enhancement algorithm 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used here gives </a:t>
                </a: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an effective edge preserving and a efficient histogram giving an improved 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result using the Modified Histogram value.</a:t>
                </a:r>
                <a:endParaRPr lang="en-US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425450" indent="-285750" algn="just">
                  <a:lnSpc>
                    <a:spcPct val="120000"/>
                  </a:lnSpc>
                </a:pP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Therefore the enhancement algorithm is named as </a:t>
                </a:r>
                <a:r>
                  <a:rPr lang="en-IN" sz="1800" dirty="0">
                    <a:latin typeface="Times New Roman" pitchFamily="18" charset="0"/>
                    <a:cs typeface="Times New Roman" pitchFamily="18" charset="0"/>
                  </a:rPr>
                  <a:t>2D Edge Preservation Efficient Histogram Improvement algorithm is implemented.</a:t>
                </a:r>
              </a:p>
              <a:p>
                <a:pPr algn="just">
                  <a:lnSpc>
                    <a:spcPct val="120000"/>
                  </a:lnSpc>
                </a:pPr>
                <a:endParaRPr lang="en-IN" sz="18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484784"/>
                <a:ext cx="8445624" cy="4493096"/>
              </a:xfrm>
              <a:blipFill rotWithShape="1">
                <a:blip r:embed="rId2"/>
                <a:stretch>
                  <a:fillRect r="-12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89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008" y="404664"/>
            <a:ext cx="8229600" cy="792088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Algorithm 2: 2D Edge Preservation Efficient Histogram Improvement (2D EPEHI)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132" y="1124744"/>
            <a:ext cx="8408632" cy="5433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Filtered image  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60" y="1637055"/>
            <a:ext cx="1154986" cy="319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301132" y="1452770"/>
                <a:ext cx="8568952" cy="50904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endParaRPr lang="en-IN" b="1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/>
                <a:endParaRPr lang="en-IN" b="1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/>
                <a:r>
                  <a:rPr lang="en-IN" b="1" dirty="0" smtClean="0">
                    <a:latin typeface="Times New Roman" pitchFamily="18" charset="0"/>
                    <a:cs typeface="Times New Roman" pitchFamily="18" charset="0"/>
                  </a:rPr>
                  <a:t>Steps:</a:t>
                </a:r>
              </a:p>
              <a:p>
                <a:pPr algn="just"/>
                <a:endParaRPr lang="en-IN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0" algn="just"/>
                <a:r>
                  <a:rPr lang="en-IN" b="1" dirty="0" smtClean="0">
                    <a:latin typeface="Times New Roman" pitchFamily="18" charset="0"/>
                    <a:cs typeface="Times New Roman" pitchFamily="18" charset="0"/>
                  </a:rPr>
                  <a:t>Step 1 : </a:t>
                </a:r>
                <a:r>
                  <a:rPr lang="en-IN" dirty="0" smtClean="0">
                    <a:latin typeface="Times New Roman" pitchFamily="18" charset="0"/>
                    <a:cs typeface="Times New Roman" pitchFamily="18" charset="0"/>
                  </a:rPr>
                  <a:t>Divide </a:t>
                </a:r>
                <a:r>
                  <a:rPr lang="en-IN" dirty="0">
                    <a:latin typeface="Times New Roman" pitchFamily="18" charset="0"/>
                    <a:cs typeface="Times New Roman" pitchFamily="18" charset="0"/>
                  </a:rPr>
                  <a:t>the filtered </a:t>
                </a:r>
                <a:r>
                  <a:rPr lang="en-IN" dirty="0" smtClean="0">
                    <a:latin typeface="Times New Roman" pitchFamily="18" charset="0"/>
                    <a:cs typeface="Times New Roman" pitchFamily="18" charset="0"/>
                  </a:rPr>
                  <a:t>image                   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into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sub-blocks of size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n x n .</a:t>
                </a:r>
                <a:endParaRPr lang="en-IN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/>
                <a:endParaRPr lang="en-IN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lvl="0" algn="just"/>
                <a:r>
                  <a:rPr lang="en-US" b="1" dirty="0" smtClean="0">
                    <a:latin typeface="Times New Roman" pitchFamily="18" charset="0"/>
                    <a:cs typeface="Times New Roman" pitchFamily="18" charset="0"/>
                  </a:rPr>
                  <a:t>Step 2 :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For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each sub-block, compute the Tenengrad criterion using Equation (6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).</a:t>
                </a:r>
              </a:p>
              <a:p>
                <a:pPr lvl="0" algn="just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	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						</a:t>
                </a:r>
              </a:p>
              <a:p>
                <a:pPr lvl="0" algn="just"/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						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        ..…..(6)</a:t>
                </a:r>
              </a:p>
              <a:p>
                <a:pPr algn="just"/>
                <a:endParaRPr lang="en-IN" dirty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/>
                <a:r>
                  <a:rPr lang="en-IN" b="1" dirty="0" smtClean="0">
                    <a:latin typeface="Times New Roman" pitchFamily="18" charset="0"/>
                    <a:cs typeface="Times New Roman" pitchFamily="18" charset="0"/>
                  </a:rPr>
                  <a:t>Step 3 : </a:t>
                </a:r>
                <a:r>
                  <a:rPr lang="en-IN" dirty="0" smtClean="0">
                    <a:latin typeface="Times New Roman" pitchFamily="18" charset="0"/>
                    <a:cs typeface="Times New Roman" pitchFamily="18" charset="0"/>
                  </a:rPr>
                  <a:t>Calculate </a:t>
                </a:r>
                <a:r>
                  <a:rPr lang="en-IN" dirty="0">
                    <a:latin typeface="Times New Roman" pitchFamily="18" charset="0"/>
                    <a:cs typeface="Times New Roman" pitchFamily="18" charset="0"/>
                  </a:rPr>
                  <a:t>the overall Tenengrad criterion for a particular block </a:t>
                </a:r>
                <a:r>
                  <a:rPr lang="en-IN" dirty="0" smtClean="0">
                    <a:latin typeface="Times New Roman" pitchFamily="18" charset="0"/>
                    <a:cs typeface="Times New Roman" pitchFamily="18" charset="0"/>
                  </a:rPr>
                  <a:t>using equation (7)</a:t>
                </a:r>
                <a:endParaRPr lang="en-IN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/>
                <a:endParaRPr lang="en-IN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lvl="0" algn="just"/>
                <a:r>
                  <a:rPr lang="en-US" b="1" dirty="0" smtClean="0">
                    <a:latin typeface="Times New Roman" pitchFamily="18" charset="0"/>
                    <a:cs typeface="Times New Roman" pitchFamily="18" charset="0"/>
                  </a:rPr>
                  <a:t>						          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…….(7)</a:t>
                </a:r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lvl="0" algn="just"/>
                <a:endParaRPr lang="en-US" b="1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/>
                <a:r>
                  <a:rPr lang="en-US" b="1" dirty="0" smtClean="0">
                    <a:latin typeface="Times New Roman" pitchFamily="18" charset="0"/>
                    <a:cs typeface="Times New Roman" pitchFamily="18" charset="0"/>
                  </a:rPr>
                  <a:t>Step 4 :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Divide 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the image into 4 regions based on the Tenengrad 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criterion based on 3 threshold values</a:t>
                </a:r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/>
                            <a:cs typeface="Times New Roman" pitchFamily="18" charset="0"/>
                          </a:rPr>
                          <m:t>1  ,  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IN" i="1" dirty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cs typeface="Times New Roman" pitchFamily="18" charset="0"/>
                          </a:rPr>
                          <m:t>2   </m:t>
                        </m:r>
                      </m:sub>
                    </m:sSub>
                    <m:r>
                      <a:rPr lang="en-US" i="1" dirty="0">
                        <a:latin typeface="Cambria Math"/>
                        <a:cs typeface="Times New Roman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latin typeface="Cambria Math"/>
                        <a:cs typeface="Times New Roman" pitchFamily="18" charset="0"/>
                      </a:rPr>
                      <m:t>and</m:t>
                    </m:r>
                    <m:r>
                      <a:rPr lang="en-US" dirty="0">
                        <a:latin typeface="Cambria Math"/>
                        <a:cs typeface="Times New Roman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 dirty="0">
                            <a:latin typeface="Cambria Math"/>
                            <a:cs typeface="Times New Roman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dirty="0">
                  <a:latin typeface="Times New Roman" pitchFamily="18" charset="0"/>
                  <a:cs typeface="Times New Roman" pitchFamily="18" charset="0"/>
                </a:endParaRPr>
              </a:p>
              <a:p>
                <a:pPr lvl="0" algn="just"/>
                <a:endParaRPr lang="en-US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lvl="0" algn="just"/>
                <a:endParaRPr lang="en-IN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32" y="1452770"/>
                <a:ext cx="8568952" cy="5090496"/>
              </a:xfrm>
              <a:prstGeom prst="rect">
                <a:avLst/>
              </a:prstGeom>
              <a:blipFill rotWithShape="1">
                <a:blip r:embed="rId3"/>
                <a:stretch>
                  <a:fillRect l="-569" t="-599" r="-1280" b="-9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008" y="2564904"/>
            <a:ext cx="984500" cy="27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553" y="3703955"/>
            <a:ext cx="3939261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725144"/>
            <a:ext cx="2093103" cy="496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27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527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562074"/>
          </a:xfrm>
        </p:spPr>
        <p:txBody>
          <a:bodyPr>
            <a:noAutofit/>
          </a:bodyPr>
          <a:lstStyle/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2: 2D Edge Preservation Efficient Histogram Improvement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2D EPEHI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80394"/>
            <a:ext cx="8229600" cy="4525963"/>
          </a:xfrm>
        </p:spPr>
        <p:txBody>
          <a:bodyPr>
            <a:normAutofit/>
          </a:bodyPr>
          <a:lstStyle/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Step 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Compute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weight function for each histogram using 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equation (8) </a:t>
            </a:r>
          </a:p>
          <a:p>
            <a:pPr marL="0" indent="0">
              <a:buNone/>
            </a:pP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IN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Step 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6 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Compute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modified histogram using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equation (9)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						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……(9)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18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Step 7 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Find the enhanced image                   using the modified histogram.</a:t>
            </a:r>
          </a:p>
          <a:p>
            <a:pPr marL="0" indent="0">
              <a:buNone/>
            </a:pPr>
            <a:endParaRPr lang="en-IN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Output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     Enhanced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image</a:t>
            </a:r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28</a:t>
            </a:fld>
            <a:endParaRPr lang="en-IN" dirty="0"/>
          </a:p>
        </p:txBody>
      </p:sp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679" y="1793571"/>
            <a:ext cx="1824401" cy="411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2592908"/>
            <a:ext cx="2215193" cy="504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4293096"/>
            <a:ext cx="994635" cy="359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268985"/>
            <a:ext cx="1008112" cy="344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1576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Table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2. Comparison of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Structural Similarity Index Metric (SSIM) 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Absolute Mean Brightness Error (AMBE)</a:t>
            </a:r>
            <a:endParaRPr lang="en-IN" sz="2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175631"/>
              </p:ext>
            </p:extLst>
          </p:nvPr>
        </p:nvGraphicFramePr>
        <p:xfrm>
          <a:off x="1331640" y="1143319"/>
          <a:ext cx="7344816" cy="4972046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2880320"/>
                <a:gridCol w="2232248"/>
                <a:gridCol w="2232248"/>
              </a:tblGrid>
              <a:tr h="8412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533400" algn="l"/>
                          <a:tab pos="925195" algn="ctr"/>
                        </a:tabLs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tabLst>
                          <a:tab pos="533400" algn="l"/>
                          <a:tab pos="925195" algn="ctr"/>
                        </a:tabLst>
                      </a:pPr>
                      <a:r>
                        <a:rPr lang="en-IN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ENHANCEMENT 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SSIM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AMBE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10809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Contrast Limited Adaptive Histogram</a:t>
                      </a:r>
                      <a:r>
                        <a:rPr lang="en-IN" sz="16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Equalization 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IN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(CLAHE)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0.25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10.42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7863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2D Adaptive Mean Adjustment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IN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(2D AMA)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0.38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8.53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878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2D Image Coherent Adjustment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IN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(2D ICA)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0.41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6.96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12835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2D Edge</a:t>
                      </a:r>
                      <a:r>
                        <a:rPr lang="en-IN" sz="16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Preservation Efficient Histogram Improvement </a:t>
                      </a: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(2D EPEHI)</a:t>
                      </a:r>
                      <a:endParaRPr lang="en-IN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0.44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4.72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29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21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778098"/>
          </a:xfrm>
        </p:spPr>
        <p:txBody>
          <a:bodyPr>
            <a:noAutofit/>
          </a:bodyPr>
          <a:lstStyle/>
          <a:p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IMAGE  PRE-PROCESSING  OUTPUT  CT IMAGES</a:t>
            </a:r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1854977"/>
            <a:ext cx="2541577" cy="2292397"/>
          </a:xfrm>
          <a:prstGeom prst="rect">
            <a:avLst/>
          </a:prstGeom>
        </p:spPr>
      </p:pic>
      <p:pic>
        <p:nvPicPr>
          <p:cNvPr id="30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2290" y="1844825"/>
            <a:ext cx="2679419" cy="230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1531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2606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0" y="3681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0" y="47640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229449" y="4304146"/>
            <a:ext cx="267941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(b) Proposed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2D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Improved Anisotropic Diffusion Bilateral Filtering 2D IADBF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6833" y="4254533"/>
            <a:ext cx="2664296" cy="649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buAutoNum type="alphaLcParenBoth"/>
            </a:pP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Covid-19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CT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noisy input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image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" name="Content Placeholder 3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48873" y="1844825"/>
            <a:ext cx="2592288" cy="22928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92890" y="4304146"/>
            <a:ext cx="244827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(c ) Proposed 2D Edge Preservation Efficient Histogram Improvement </a:t>
            </a:r>
          </a:p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2D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EPEHI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95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72494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Phase 1: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Step 2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Extraction of Region of Interest (ROI)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556792"/>
            <a:ext cx="8229600" cy="420933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3:Image 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Thresholding using 2D Adaptive OTSU Thresholding</a:t>
            </a: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Thresholding ,the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inner structures of the lungs, i.e., nodules, bronchi, and blood vessels, are separated from the parenchyma region.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inner structures in the lungs appear as bright spots.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These spots are separated through thresholding based on the intensity levels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intensity levels of  parenchyma region and inner structures are distinguishably different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IN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33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836712"/>
            <a:ext cx="8229600" cy="778098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Phase 1: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Step 2: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Extraction of Region of Interest (ROI)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dirty="0">
                <a:latin typeface="Times New Roman" pitchFamily="18" charset="0"/>
                <a:cs typeface="Times New Roman" pitchFamily="18" charset="0"/>
              </a:rPr>
            </a:b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:Image 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Thresholding using 2D Adaptive OTSU 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Thresholding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2D AOT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is used  to separate the inner structure vessels, bronchi, and nodules from the rest of the region.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The key difference is their shape, and exploits this property to isolate the nodules from the non-nodules structures, i.e., vessels and bronchi. 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Nodules are spherical in shape and vessels and the bronchioles are cylindrical.</a:t>
            </a:r>
          </a:p>
          <a:p>
            <a:pPr marL="9398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Near-round shape detection algorithm proposed to identify the such shapes.</a:t>
            </a:r>
          </a:p>
          <a:p>
            <a:pPr marL="939800" lvl="1" indent="-34290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Region-growing algorithm is used for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final extraction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of  the nodules.</a:t>
            </a:r>
          </a:p>
          <a:p>
            <a:pPr algn="just"/>
            <a:endParaRPr lang="en-IN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4228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634082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Table 3: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Comparison of Thresholding algorithms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126541"/>
              </p:ext>
            </p:extLst>
          </p:nvPr>
        </p:nvGraphicFramePr>
        <p:xfrm>
          <a:off x="1403648" y="1556792"/>
          <a:ext cx="6120680" cy="354190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2041338"/>
                <a:gridCol w="2041338"/>
                <a:gridCol w="2038004"/>
              </a:tblGrid>
              <a:tr h="755945">
                <a:tc>
                  <a:txBody>
                    <a:bodyPr/>
                    <a:lstStyle/>
                    <a:p>
                      <a:pPr marL="67945" algn="ctr"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7945"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True Segmented Pixels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False Segmented Pixels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683937">
                <a:tc>
                  <a:txBody>
                    <a:bodyPr/>
                    <a:lstStyle/>
                    <a:p>
                      <a:pPr marL="67945" marR="52959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Gradient</a:t>
                      </a:r>
                      <a:r>
                        <a:rPr lang="en-US" sz="16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Descent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7945"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171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 algn="ctr">
                        <a:spcAft>
                          <a:spcPts val="0"/>
                        </a:spcAft>
                      </a:pPr>
                      <a:endParaRPr lang="en-US" sz="160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6040" algn="ctr"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683937">
                <a:tc>
                  <a:txBody>
                    <a:bodyPr/>
                    <a:lstStyle/>
                    <a:p>
                      <a:pPr marL="67945" marR="2730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Binary</a:t>
                      </a:r>
                      <a:r>
                        <a:rPr lang="en-US" sz="1600" baseline="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Thresholding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7945"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 algn="ctr">
                        <a:spcAft>
                          <a:spcPts val="0"/>
                        </a:spcAft>
                      </a:pPr>
                      <a:endParaRPr lang="en-US" sz="160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6040" algn="ctr"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686564">
                <a:tc>
                  <a:txBody>
                    <a:bodyPr/>
                    <a:lstStyle/>
                    <a:p>
                      <a:pPr marL="67945"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OTSU</a:t>
                      </a:r>
                      <a:r>
                        <a:rPr lang="en-US" sz="1600" baseline="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Thresholding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spcAft>
                          <a:spcPts val="0"/>
                        </a:spcAft>
                      </a:pPr>
                      <a:endParaRPr lang="en-US" sz="160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7945" algn="ctr"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253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 algn="ctr">
                        <a:spcAft>
                          <a:spcPts val="0"/>
                        </a:spcAft>
                      </a:pPr>
                      <a:endParaRPr lang="en-US" sz="160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6040" algn="ctr"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125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686564">
                <a:tc>
                  <a:txBody>
                    <a:bodyPr/>
                    <a:lstStyle/>
                    <a:p>
                      <a:pPr marL="67945"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2D Adaptive OTSU Thresholding </a:t>
                      </a:r>
                    </a:p>
                    <a:p>
                      <a:pPr marL="67945"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2D </a:t>
                      </a: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AOT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 algn="ctr">
                        <a:spcAft>
                          <a:spcPts val="0"/>
                        </a:spcAft>
                      </a:pPr>
                      <a:endParaRPr lang="en-US" sz="160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7945" algn="ctr"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256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 algn="ctr"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6040"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128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537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114300" indent="0">
              <a:lnSpc>
                <a:spcPct val="120000"/>
              </a:lnSpc>
            </a:pPr>
            <a:r>
              <a:rPr lang="en-US" sz="27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7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Phase 1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: STEP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2: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Extraction of Region of Interest (ROI)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ii) Image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Clustering using 2D Hybrid Fuzzy C-Means (2D HFCM)</a:t>
            </a:r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4000" b="1" dirty="0">
                <a:latin typeface="Times New Roman" pitchFamily="18" charset="0"/>
                <a:cs typeface="Times New Roman" pitchFamily="18" charset="0"/>
              </a:rPr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55000" lnSpcReduction="20000"/>
          </a:bodyPr>
          <a:lstStyle/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proposed algorithm clusters CT Images into diseased and non-diseased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regions.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These regions are split as non-overlapping blocks and two dictionaries are created. </a:t>
            </a:r>
          </a:p>
          <a:p>
            <a:pPr marL="596900" indent="-457200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13970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       1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dictionary Dr is created for the ROI region, </a:t>
            </a:r>
          </a:p>
          <a:p>
            <a:pPr marL="13970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            2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second dictionary Dn  for the non-ROI region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970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96900" indent="-457200"/>
            <a:r>
              <a:rPr lang="en-US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hese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dictionaries are concatenated to a single dictionary D i.e. D= [Dr, Dn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].</a:t>
            </a:r>
          </a:p>
          <a:p>
            <a:pPr marL="596900" indent="-45720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enhanced image is split into a non-overlapping block bi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96900" indent="-457200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96900" indent="-45720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block bi and dictionary D is used in the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Orthogonal Matching Pursuit algorithm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which  it checks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ROI /Non-ROI portions are obtained from the input image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96900" indent="-457200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596900" indent="-457200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Then it classifies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resultant image by using Residue condition[i.e. checks the o/p image obtained is different from the image before manipulation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596900" indent="-457200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596900" indent="-457200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088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Phase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1: STEP 2 Extraction of Region of Interest (ROI)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200" dirty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ii)Image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Clustering using 2D Hybrid Fuzzy C-Means (2D HFCM)</a:t>
            </a:r>
            <a:r>
              <a:rPr lang="en-IN" sz="66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6600" b="1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856984" cy="475252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Algorithm 4:2D Hybrid Fuzzy C-Means (2D HFCM)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Input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Training images, Enhanced image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1 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Split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training images into ROI and non-ROI image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blocks.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2 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Using ROI image blocks from ROI dictionary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blocks form non-ROI dictionary     	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Dn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using non-ROI image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 3 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Form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concatenated dictionary using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= [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Dr Dn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].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 4 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Split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enhanced image as non-overlapping blocks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bi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5: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Find sparse coefficient vector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using the block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bi and dictionary D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using     	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Orthogonal Matching Pursuit algorithm[19]</a:t>
            </a: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STEP 6 :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Classify each block as ROI and non-ROI using residue criterion </a:t>
            </a:r>
            <a:r>
              <a:rPr lang="en-US" sz="1800" i="1" dirty="0" err="1" smtClean="0">
                <a:latin typeface="Times New Roman" pitchFamily="18" charset="0"/>
                <a:ea typeface="Times New Roman"/>
                <a:cs typeface="Times New Roman" pitchFamily="18" charset="0"/>
              </a:rPr>
              <a:t>rs</a:t>
            </a:r>
            <a:r>
              <a:rPr lang="en-US" sz="1800" i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(</a:t>
            </a:r>
            <a:r>
              <a:rPr lang="en-US" sz="1800" i="1" dirty="0">
                <a:latin typeface="Times New Roman" pitchFamily="18" charset="0"/>
                <a:ea typeface="Times New Roman"/>
                <a:cs typeface="Times New Roman" pitchFamily="18" charset="0"/>
              </a:rPr>
              <a:t>bi 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) </a:t>
            </a:r>
            <a:r>
              <a:rPr lang="en-US" sz="18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=</a:t>
            </a:r>
            <a:r>
              <a:rPr lang="en-IN" sz="18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en-US" sz="1800" i="1" spc="-8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b</a:t>
            </a:r>
            <a:r>
              <a:rPr lang="en-US" sz="1800" i="1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i</a:t>
            </a:r>
            <a:r>
              <a:rPr lang="en-US" sz="1800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-</a:t>
            </a:r>
            <a:r>
              <a:rPr lang="en-US" sz="1800" spc="-35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en-US" sz="1800" i="1" spc="-55" dirty="0" err="1">
                <a:latin typeface="Times New Roman" pitchFamily="18" charset="0"/>
                <a:ea typeface="Times New Roman"/>
                <a:cs typeface="Times New Roman" pitchFamily="18" charset="0"/>
              </a:rPr>
              <a:t>D</a:t>
            </a:r>
            <a:r>
              <a:rPr lang="en-US" sz="1800" i="1" spc="80" dirty="0" err="1">
                <a:latin typeface="Times New Roman" pitchFamily="18" charset="0"/>
                <a:ea typeface="Times New Roman"/>
                <a:cs typeface="Times New Roman" pitchFamily="18" charset="0"/>
              </a:rPr>
              <a:t>d</a:t>
            </a:r>
            <a:r>
              <a:rPr lang="en-US" sz="1800" i="1" baseline="-25000" dirty="0" err="1">
                <a:latin typeface="Times New Roman" pitchFamily="18" charset="0"/>
                <a:ea typeface="Times New Roman"/>
                <a:cs typeface="Times New Roman" pitchFamily="18" charset="0"/>
              </a:rPr>
              <a:t>s</a:t>
            </a:r>
            <a:r>
              <a:rPr lang="en-US" sz="1800" i="1" spc="-135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en-US" sz="1800" spc="-60" dirty="0">
                <a:latin typeface="Times New Roman" pitchFamily="18" charset="0"/>
                <a:ea typeface="Times New Roman"/>
                <a:cs typeface="Times New Roman" pitchFamily="18" charset="0"/>
              </a:rPr>
              <a:t>(</a:t>
            </a:r>
            <a:r>
              <a:rPr lang="en-US" sz="1800" i="1" spc="-360" dirty="0">
                <a:latin typeface="Times New Roman" pitchFamily="18" charset="0"/>
                <a:ea typeface="Times New Roman"/>
                <a:cs typeface="Times New Roman" pitchFamily="18" charset="0"/>
              </a:rPr>
              <a:t>a</a:t>
            </a:r>
            <a:r>
              <a:rPr lang="en-US" sz="1800" spc="105" dirty="0">
                <a:latin typeface="Times New Roman" pitchFamily="18" charset="0"/>
                <a:ea typeface="Times New Roman"/>
                <a:cs typeface="Times New Roman" pitchFamily="18" charset="0"/>
              </a:rPr>
              <a:t>ˆ</a:t>
            </a:r>
            <a:r>
              <a:rPr lang="en-US" sz="1800" dirty="0">
                <a:latin typeface="Times New Roman" pitchFamily="18" charset="0"/>
                <a:ea typeface="Times New Roman"/>
                <a:cs typeface="Times New Roman" pitchFamily="18" charset="0"/>
              </a:rPr>
              <a:t>)</a:t>
            </a:r>
            <a:r>
              <a:rPr lang="en-US" sz="1800" spc="90" dirty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en-US" sz="1800" spc="-175" dirty="0">
                <a:latin typeface="Times New Roman" pitchFamily="18" charset="0"/>
                <a:ea typeface="Times New Roman"/>
                <a:cs typeface="Times New Roman" pitchFamily="18" charset="0"/>
              </a:rPr>
              <a:t>	</a:t>
            </a:r>
            <a:r>
              <a:rPr lang="en-US" sz="1800" spc="-175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Where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= 1,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2.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STEP 7 :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block is classified as ROI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&gt;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 (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, else it is classified as non-ROI.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94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764704"/>
            <a:ext cx="8229600" cy="418058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TABLE 3:Comparison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of Segmentation parameter values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671441"/>
              </p:ext>
            </p:extLst>
          </p:nvPr>
        </p:nvGraphicFramePr>
        <p:xfrm>
          <a:off x="467544" y="1556792"/>
          <a:ext cx="8064894" cy="439482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1296144"/>
                <a:gridCol w="1008112"/>
                <a:gridCol w="792088"/>
                <a:gridCol w="792088"/>
                <a:gridCol w="1095788"/>
                <a:gridCol w="1262977"/>
                <a:gridCol w="701654"/>
                <a:gridCol w="1116043"/>
              </a:tblGrid>
              <a:tr h="576064">
                <a:tc>
                  <a:txBody>
                    <a:bodyPr/>
                    <a:lstStyle/>
                    <a:p>
                      <a:pPr marL="6223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Algorithm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 marR="46990" algn="ctr">
                        <a:lnSpc>
                          <a:spcPct val="115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Segmented pixels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20" marR="49530" algn="ctr">
                        <a:lnSpc>
                          <a:spcPct val="115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Gradient clusters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 marR="48895" algn="ctr">
                        <a:lnSpc>
                          <a:spcPct val="115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Intensity pixel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00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Min.Intensity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Pixels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13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Max.Intensity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Pixels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540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 of </a:t>
                      </a:r>
                      <a:r>
                        <a:rPr lang="en-US" sz="1600" dirty="0" err="1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Obs</a:t>
                      </a:r>
                      <a:endParaRPr lang="en-US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540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marR="43180" algn="ctr">
                        <a:lnSpc>
                          <a:spcPct val="115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Edge Information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504056">
                <a:tc>
                  <a:txBody>
                    <a:bodyPr/>
                    <a:lstStyle/>
                    <a:p>
                      <a:pPr marL="622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Fuzzy </a:t>
                      </a:r>
                    </a:p>
                    <a:p>
                      <a:pPr marL="622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C- Means</a:t>
                      </a:r>
                    </a:p>
                    <a:p>
                      <a:pPr marL="6223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(FCM)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IN" sz="16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IN" sz="16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438983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0.3378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236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US" sz="160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476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504056">
                <a:tc>
                  <a:txBody>
                    <a:bodyPr/>
                    <a:lstStyle/>
                    <a:p>
                      <a:pPr marL="62230" algn="ctr"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endParaRPr lang="en-US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2230" algn="ctr">
                        <a:lnSpc>
                          <a:spcPts val="1250"/>
                        </a:lnSpc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K-Means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IN" sz="16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637663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IN" sz="1600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0.2187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250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IN" sz="16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763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723689">
                <a:tc>
                  <a:txBody>
                    <a:bodyPr/>
                    <a:lstStyle/>
                    <a:p>
                      <a:pPr marL="62230" marR="571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Fast </a:t>
                      </a:r>
                      <a:r>
                        <a:rPr lang="en-US" sz="16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Fuzzy </a:t>
                      </a:r>
                      <a:endParaRPr lang="en-US" sz="160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2230" marR="571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spc="-45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C- </a:t>
                      </a: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Means</a:t>
                      </a:r>
                    </a:p>
                    <a:p>
                      <a:pPr marL="62230" marR="571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(FFCM)</a:t>
                      </a:r>
                    </a:p>
                    <a:p>
                      <a:pPr marL="62230" marR="5715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IN" sz="16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50165"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387365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58420"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2865"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0.4523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3500"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4135"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247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5405" algn="ctr">
                        <a:spcAft>
                          <a:spcPts val="0"/>
                        </a:spcAft>
                      </a:pPr>
                      <a:r>
                        <a:rPr lang="en-US" sz="1600" b="0" dirty="0" smtClean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6675" algn="ctr"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546</a:t>
                      </a:r>
                      <a:endParaRPr lang="en-IN" sz="1600" b="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  <a:tr h="576064">
                <a:tc>
                  <a:txBody>
                    <a:bodyPr/>
                    <a:lstStyle/>
                    <a:p>
                      <a:pPr marL="62230" marR="23050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2D Hybrid</a:t>
                      </a:r>
                      <a:endParaRPr lang="en-US" sz="1600" b="1" baseline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62230" marR="23050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Fuzzy </a:t>
                      </a:r>
                    </a:p>
                    <a:p>
                      <a:pPr marL="62230" marR="23050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C-Means </a:t>
                      </a:r>
                      <a:r>
                        <a:rPr lang="en-US" sz="14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(2D HFCM)</a:t>
                      </a:r>
                      <a:endParaRPr lang="en-IN" sz="14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26214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r>
                        <a:rPr lang="en-IN" sz="1600" b="1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0.7169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255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IN" sz="16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en-IN" sz="160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512</a:t>
                      </a:r>
                      <a:endParaRPr lang="en-IN" sz="1600" b="1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23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pic>
        <p:nvPicPr>
          <p:cNvPr id="1031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348880"/>
            <a:ext cx="2978244" cy="2186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348880"/>
            <a:ext cx="3096344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755576" y="620688"/>
            <a:ext cx="79928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EXTRACTION OF REGION OF INTEREST (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ROI)</a:t>
            </a: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OUTPUT IMAGES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>
                <a:latin typeface="Times New Roman" pitchFamily="18" charset="0"/>
                <a:cs typeface="Times New Roman" pitchFamily="18" charset="0"/>
              </a:rPr>
            </a:br>
            <a:endParaRPr lang="en-IN" sz="2400" dirty="0"/>
          </a:p>
        </p:txBody>
      </p:sp>
      <p:sp>
        <p:nvSpPr>
          <p:cNvPr id="16" name="Rectangle 15"/>
          <p:cNvSpPr/>
          <p:nvPr/>
        </p:nvSpPr>
        <p:spPr>
          <a:xfrm>
            <a:off x="179512" y="4869160"/>
            <a:ext cx="88569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(d) 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Thresholding image using 2D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AOT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 (e</a:t>
            </a:r>
            <a:r>
              <a:rPr lang="en-IN" b="1" dirty="0">
                <a:latin typeface="Times New Roman" pitchFamily="18" charset="0"/>
                <a:cs typeface="Times New Roman" pitchFamily="18" charset="0"/>
              </a:rPr>
              <a:t>) Clustered image using 2D HFCM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37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322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634082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SEGMENTATION ACCURACY GRAPH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38</a:t>
            </a:fld>
            <a:endParaRPr lang="en-IN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3" y="1700808"/>
            <a:ext cx="6331253" cy="4032447"/>
          </a:xfrm>
        </p:spPr>
      </p:pic>
    </p:spTree>
    <p:extLst>
      <p:ext uri="{BB962C8B-B14F-4D97-AF65-F5344CB8AC3E}">
        <p14:creationId xmlns:p14="http://schemas.microsoft.com/office/powerpoint/2010/main" val="232541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864096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b="1" dirty="0">
                <a:latin typeface="Times New Roman" pitchFamily="18" charset="0"/>
                <a:cs typeface="Times New Roman" pitchFamily="18" charset="0"/>
              </a:rPr>
            </a:br>
            <a:endParaRPr lang="en-IN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445624" cy="410445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identify a collection of globally distinct characteristics that capture the essence of the nodule's class-specific information using a CT scan of lung disease. 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Here, 2D - Iterative Multiscale Convolutional Neural Network (2D I-CNN) is used to create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CNNs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extract multi-scale properties from nodules of various sizes.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Following a set of convolutional layers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is the activation function , </a:t>
            </a:r>
            <a:r>
              <a:rPr lang="en-US" sz="1800" smtClean="0">
                <a:latin typeface="Times New Roman" pitchFamily="18" charset="0"/>
                <a:cs typeface="Times New Roman" pitchFamily="18" charset="0"/>
              </a:rPr>
              <a:t>max-pooling function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fully connected layers that provide the final output feature of Convolutional Neural Networks (CNN).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For nodule classification, it is important to reduce feature maps to eliminate duplicate information from the original nodular patch and to acquire discriminative features. </a:t>
            </a:r>
          </a:p>
          <a:p>
            <a:pPr algn="just">
              <a:lnSpc>
                <a:spcPct val="150000"/>
              </a:lnSpc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39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1560" y="332656"/>
            <a:ext cx="76328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Phase 2: Deep learning For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Classification</a:t>
            </a:r>
          </a:p>
          <a:p>
            <a:pPr algn="ctr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i)Classification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using 2D Iterative Convolutional 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eural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etwork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694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Phase 2: Deep learning For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Classification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Step 1:Classification using 2D Iterative Convolutional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Neural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etwork 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36290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SzPct val="130000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network is trained into Epochs,Iterations and Batches</a:t>
            </a: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Epochs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Training a network with all training data for 1 cycle  i.e. inputs are forwarded and back warded once through the network </a:t>
            </a: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Iterations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Number of batches needed to complete one epoch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SzPct val="130000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(Iteration =Epochs* Batches )</a:t>
            </a: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Batches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: Number of training examples in one forward and back ward pass</a:t>
            </a: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( Note: Higher the batch size more the memory space is required)</a:t>
            </a:r>
          </a:p>
          <a:p>
            <a:pPr algn="just"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40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4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Phase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2:Deep Learning For  Classification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i)Classification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using 2D Iterative Convolutional neural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network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SzPct val="130000"/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How 2D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ICNN is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designed?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avoid memory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issues.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Reduces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size of network by constructing iterative blocks</a:t>
            </a: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Reduces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computational cost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and consumption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time</a:t>
            </a: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It gives Good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impact on results</a:t>
            </a: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ICNN process small sets of sub-sets of input and classify the accuracy based on the enhancement made</a:t>
            </a: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Each Iteration value is concatenated and stored in kernels k </a:t>
            </a: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Combines results from previous iteration and comes out with new set of results</a:t>
            </a:r>
          </a:p>
          <a:p>
            <a:pPr algn="just">
              <a:lnSpc>
                <a:spcPct val="150000"/>
              </a:lnSpc>
              <a:buSzPct val="13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final Iteration value kn  is used for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classification (If kn&gt;0.9-1.00-Covid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affected image ; kn=0.0 –Non-covid affected image ) </a:t>
            </a:r>
          </a:p>
          <a:p>
            <a:pPr algn="just">
              <a:lnSpc>
                <a:spcPct val="150000"/>
              </a:lnSpc>
            </a:pP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41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954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864" y="332656"/>
            <a:ext cx="8229600" cy="864096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ARCHITECTURE OF PROPOSED 2D ITERATIVE CONVOLUTIONAL NEURAL NETWORK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8496944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705586" y="2204863"/>
            <a:ext cx="2567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</a:t>
            </a:r>
          </a:p>
          <a:p>
            <a:r>
              <a:rPr lang="en-US" dirty="0" smtClean="0"/>
              <a:t>L</a:t>
            </a:r>
          </a:p>
          <a:p>
            <a:r>
              <a:rPr lang="en-US" dirty="0" smtClean="0"/>
              <a:t>A</a:t>
            </a:r>
          </a:p>
          <a:p>
            <a:r>
              <a:rPr lang="en-US" dirty="0" smtClean="0"/>
              <a:t>T</a:t>
            </a:r>
          </a:p>
          <a:p>
            <a:r>
              <a:rPr lang="en-US" dirty="0" smtClean="0"/>
              <a:t>T</a:t>
            </a:r>
          </a:p>
          <a:p>
            <a:r>
              <a:rPr lang="en-US" dirty="0" smtClean="0"/>
              <a:t>E</a:t>
            </a:r>
          </a:p>
          <a:p>
            <a:r>
              <a:rPr lang="en-US" dirty="0"/>
              <a:t>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5756590" y="2204864"/>
            <a:ext cx="256739" cy="203132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42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3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Phase 2:Deep Learning For Classification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548680"/>
                <a:ext cx="8301608" cy="5472608"/>
              </a:xfrm>
            </p:spPr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Algorithm 5:2D Iterative Convolutional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eural </a:t>
                </a: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etwork</a:t>
                </a:r>
              </a:p>
              <a:p>
                <a:pPr marL="0" indent="0" algn="just">
                  <a:buNone/>
                </a:pPr>
                <a: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  <a:t/>
                </a:r>
                <a:b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Step 1: 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Two </a:t>
                </a: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integers on either side of the cuboid represent the feature map 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dimensions. </a:t>
                </a:r>
              </a:p>
              <a:p>
                <a:pPr marL="0" indent="0" algn="just">
                  <a:buNone/>
                </a:pP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Step 2 : 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3D </a:t>
                </a: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convolution kernel and 2D pooling area are represented by the cuboid and square within the cuboid, respectively. </a:t>
                </a:r>
                <a:endParaRPr lang="en-US" sz="18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800" i="1" dirty="0" smtClean="0">
                    <a:latin typeface="Times New Roman" pitchFamily="18" charset="0"/>
                    <a:cs typeface="Times New Roman" pitchFamily="18" charset="0"/>
                  </a:rPr>
                  <a:t>NOTE  : The </a:t>
                </a:r>
                <a:r>
                  <a:rPr lang="en-US" sz="1800" i="1" dirty="0">
                    <a:latin typeface="Times New Roman" pitchFamily="18" charset="0"/>
                    <a:cs typeface="Times New Roman" pitchFamily="18" charset="0"/>
                  </a:rPr>
                  <a:t>number of hidden neurons in the final feature layer is indicated in parenthesis.</a:t>
                </a: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18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Step 3 : 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An </a:t>
                </a: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input feature map is convolutionally concatenated with convolutional kernels to produce output 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features. </a:t>
                </a:r>
              </a:p>
              <a:p>
                <a:pPr marL="0" indent="0" algn="just">
                  <a:buNone/>
                </a:pP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Step 4 : 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This </a:t>
                </a: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process is repeated until all input features have been concatenated with the kernels. </a:t>
                </a:r>
                <a:endParaRPr lang="en-US" sz="18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The </a:t>
                </a: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convolution of an input feature map with a convolutional kernel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is formally defined as:</a:t>
                </a:r>
                <a:endParaRPr lang="en-IN" sz="18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sz="1800" i="1"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IN" sz="1800" i="1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IN" sz="1800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𝑈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IN" sz="1800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latin typeface="Cambria Math"/>
                                      </a:rPr>
                                      <m:t>𝑟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1800" i="1">
                                <a:latin typeface="Cambria Math"/>
                              </a:rPr>
                              <m:t>−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𝐺</m:t>
                            </m:r>
                            <m:sSub>
                              <m:sSubPr>
                                <m:ctrlPr>
                                  <a:rPr lang="en-IN" sz="1800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/>
                                  </a:rPr>
                                  <m:t>𝑟</m:t>
                                </m:r>
                                <m:r>
                                  <a:rPr lang="en-US" sz="1800" i="1">
                                    <a:latin typeface="Cambria Math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800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𝑑𝑐</m:t>
                            </m:r>
                          </m:e>
                        </m:d>
                        <m:r>
                          <a:rPr lang="en-US" sz="1800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IN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………(10)</a:t>
                </a:r>
              </a:p>
              <a:p>
                <a:pPr marL="0" indent="0" algn="just">
                  <a:buNone/>
                </a:pPr>
                <a:r>
                  <a:rPr lang="en-US" sz="1800" b="1" dirty="0" smtClean="0">
                    <a:latin typeface="Times New Roman" pitchFamily="18" charset="0"/>
                    <a:cs typeface="Times New Roman" pitchFamily="18" charset="0"/>
                  </a:rPr>
                  <a:t>Step  5: </a:t>
                </a: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en-US" sz="1800" dirty="0" smtClean="0">
                    <a:latin typeface="Times New Roman" pitchFamily="18" charset="0"/>
                    <a:cs typeface="Times New Roman" pitchFamily="18" charset="0"/>
                  </a:rPr>
                  <a:t>he  </a:t>
                </a:r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convolutional kernel, the feature map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𝑈</m:t>
                        </m:r>
                      </m:e>
                      <m:sub>
                        <m:sSub>
                          <m:sSubPr>
                            <m:ctrlPr>
                              <a:rPr lang="en-IN" sz="18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800" i="1"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and the convolutional kernel slices are both concatenated.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𝐺</m:t>
                    </m:r>
                    <m:sSub>
                      <m:sSubPr>
                        <m:ctrlPr>
                          <a:rPr lang="en-IN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𝑟</m:t>
                        </m:r>
                        <m:r>
                          <a:rPr lang="en-US" sz="1800" i="1">
                            <a:latin typeface="Cambria Math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𝑑𝑐</m:t>
                    </m:r>
                  </m:oMath>
                </a14:m>
                <a:r>
                  <a:rPr lang="en-US" sz="1800" dirty="0">
                    <a:latin typeface="Times New Roman" pitchFamily="18" charset="0"/>
                    <a:cs typeface="Times New Roman" pitchFamily="18" charset="0"/>
                  </a:rPr>
                  <a:t> are taught consistently throughout training. </a:t>
                </a:r>
                <a:endParaRPr lang="en-US" sz="1800" dirty="0" smtClean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548680"/>
                <a:ext cx="8301608" cy="5472608"/>
              </a:xfrm>
              <a:blipFill rotWithShape="1">
                <a:blip r:embed="rId2"/>
                <a:stretch>
                  <a:fillRect l="-661" t="-557" r="-13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43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83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Algorithm 5:2D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Iterative Convolutional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Neural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etwork </a:t>
            </a:r>
            <a:br>
              <a:rPr lang="en-US" sz="2000" b="1" dirty="0" smtClean="0">
                <a:latin typeface="Times New Roman" pitchFamily="18" charset="0"/>
                <a:cs typeface="Times New Roman" pitchFamily="18" charset="0"/>
              </a:rPr>
            </a:br>
            <a:endParaRPr lang="en-I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764704"/>
                <a:ext cx="8229600" cy="5145435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n-US" sz="1600" b="1" dirty="0" smtClean="0">
                    <a:latin typeface="Times New Roman" pitchFamily="18" charset="0"/>
                    <a:cs typeface="Times New Roman" pitchFamily="18" charset="0"/>
                  </a:rPr>
                  <a:t>Step 6 :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ReLu (rectified linear unit) non-linearity is  employed as a non-linear transition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from input to output </a:t>
                </a:r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space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where meaningful features are extracted.</a:t>
                </a:r>
                <a:endParaRPr lang="en-US" sz="16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STEP </a:t>
                </a:r>
                <a:r>
                  <a:rPr lang="en-US" sz="1600" b="1" dirty="0" smtClean="0">
                    <a:latin typeface="Times New Roman" pitchFamily="18" charset="0"/>
                    <a:cs typeface="Times New Roman" pitchFamily="18" charset="0"/>
                  </a:rPr>
                  <a:t>7 : </a:t>
                </a:r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The 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Convolution is followed by a max-pooling layer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that selects feature subsets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/>
                      </a:rPr>
                      <m:t>𝜏</m:t>
                    </m:r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. </a:t>
                </a:r>
                <a:endParaRPr lang="en-IN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IN" sz="1600" dirty="0" smtClean="0"/>
                  <a:t>         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=</m:t>
                    </m:r>
                    <m:r>
                      <a:rPr lang="en-US" sz="1600" i="1">
                        <a:latin typeface="Cambria Math"/>
                      </a:rPr>
                      <m:t>𝜏</m:t>
                    </m:r>
                    <m:d>
                      <m:dPr>
                        <m:ctrlPr>
                          <a:rPr lang="en-IN" sz="1600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𝑈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h</m:t>
                            </m:r>
                          </m:sub>
                        </m:sSub>
                        <m:sSub>
                          <m:sSubPr>
                            <m:ctrlPr>
                              <a:rPr lang="en-IN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IN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h</m:t>
                            </m:r>
                          </m:sub>
                        </m:sSub>
                        <m:sSub>
                          <m:sSubPr>
                            <m:ctrlPr>
                              <a:rPr lang="en-IN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𝑟</m:t>
                            </m:r>
                            <m:r>
                              <a:rPr lang="en-US" sz="1600" i="1">
                                <a:latin typeface="Cambria Math"/>
                              </a:rPr>
                              <m:t>+1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IN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IN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𝑟</m:t>
                            </m:r>
                            <m:r>
                              <a:rPr lang="en-US" sz="1600" i="1">
                                <a:latin typeface="Cambria Math"/>
                              </a:rPr>
                              <m:t>+1</m:t>
                            </m:r>
                          </m:sub>
                        </m:sSub>
                        <m:r>
                          <a:rPr lang="en-US" sz="16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IN" sz="16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h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 	(11</a:t>
                </a:r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marL="0" indent="0" algn="just">
                  <a:buNone/>
                </a:pPr>
                <a:endParaRPr lang="en-IN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600" b="1" dirty="0" smtClean="0">
                    <a:latin typeface="Times New Roman" pitchFamily="18" charset="0"/>
                    <a:cs typeface="Times New Roman" pitchFamily="18" charset="0"/>
                  </a:rPr>
                  <a:t>Step 8 :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Pooling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𝑈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and the output of the convolutional 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𝑟</m:t>
                        </m:r>
                        <m:r>
                          <a:rPr lang="en-US" sz="1600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are defined in this manner: </a:t>
                </a:r>
                <a:endParaRPr lang="en-US" sz="16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600" i="1" dirty="0" smtClean="0">
                    <a:latin typeface="Times New Roman" pitchFamily="18" charset="0"/>
                    <a:cs typeface="Times New Roman" pitchFamily="18" charset="0"/>
                  </a:rPr>
                  <a:t>Note : Because </a:t>
                </a:r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of its translation invariability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, the max-pooling 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𝑟</m:t>
                        </m:r>
                        <m:r>
                          <a:rPr lang="en-US" sz="1600" i="1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is a useful tool for comparing pictures of varying alignment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i="1" dirty="0">
                    <a:latin typeface="Times New Roman" pitchFamily="18" charset="0"/>
                    <a:cs typeface="Times New Roman" pitchFamily="18" charset="0"/>
                  </a:rPr>
                  <a:t>.</a:t>
                </a:r>
                <a:endParaRPr lang="en-US" sz="1600" i="1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endParaRPr lang="en-US" sz="16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600" b="1" dirty="0" smtClean="0">
                    <a:latin typeface="Times New Roman" pitchFamily="18" charset="0"/>
                    <a:cs typeface="Times New Roman" pitchFamily="18" charset="0"/>
                  </a:rPr>
                  <a:t>Step 9:</a:t>
                </a:r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 is applied to the flatten layer where the values are made into a single column value and passed to the fully connected(FC)layer.</a:t>
                </a:r>
              </a:p>
              <a:p>
                <a:pPr marL="0" indent="0" algn="just">
                  <a:buNone/>
                </a:pPr>
                <a:endParaRPr lang="en-US" sz="16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600" i="1" dirty="0" smtClean="0">
                    <a:latin typeface="Times New Roman" pitchFamily="18" charset="0"/>
                    <a:cs typeface="Times New Roman" pitchFamily="18" charset="0"/>
                  </a:rPr>
                  <a:t>Note: In FC layer each neuron in I/P layer is mapped with the neuron in the hidden layer and so with the  O/P layer and finally the O/P layer has the label of the class nodule information say </a:t>
                </a:r>
                <a:r>
                  <a:rPr lang="en-US" sz="1600" b="1" i="1" dirty="0" smtClean="0">
                    <a:latin typeface="Times New Roman" pitchFamily="18" charset="0"/>
                    <a:cs typeface="Times New Roman" pitchFamily="18" charset="0"/>
                  </a:rPr>
                  <a:t>k </a:t>
                </a:r>
              </a:p>
              <a:p>
                <a:pPr marL="0" indent="0" algn="just">
                  <a:buNone/>
                </a:pPr>
                <a:endParaRPr lang="en-US" sz="1600" b="1" i="1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600" b="1" dirty="0" smtClean="0">
                    <a:latin typeface="Times New Roman" pitchFamily="18" charset="0"/>
                    <a:cs typeface="Times New Roman" pitchFamily="18" charset="0"/>
                  </a:rPr>
                  <a:t>Step 10 </a:t>
                </a:r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:r>
                  <a:rPr lang="en-US" sz="1600" dirty="0">
                    <a:latin typeface="Times New Roman" pitchFamily="18" charset="0"/>
                    <a:cs typeface="Times New Roman" pitchFamily="18" charset="0"/>
                  </a:rPr>
                  <a:t>The image classification using 2D I-CNN clearly classifies the covid affected and non covid affected.</a:t>
                </a:r>
                <a:endParaRPr lang="en-IN" sz="1600" dirty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IN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764704"/>
                <a:ext cx="8229600" cy="5145435"/>
              </a:xfrm>
              <a:blipFill rotWithShape="1">
                <a:blip r:embed="rId2"/>
                <a:stretch>
                  <a:fillRect l="-444" t="-355" r="-1037" b="-102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44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7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19256" cy="548680"/>
          </a:xfrm>
        </p:spPr>
        <p:txBody>
          <a:bodyPr>
            <a:no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Table 5: Comparison of Classification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ccuracies for CNN’S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393104"/>
              </p:ext>
            </p:extLst>
          </p:nvPr>
        </p:nvGraphicFramePr>
        <p:xfrm>
          <a:off x="179513" y="476673"/>
          <a:ext cx="8640961" cy="6116604"/>
        </p:xfrm>
        <a:graphic>
          <a:graphicData uri="http://schemas.openxmlformats.org/drawingml/2006/table">
            <a:tbl>
              <a:tblPr firstRow="1" firstCol="1" bandRow="1">
                <a:tableStyleId>{BDBED569-4797-4DF1-A0F4-6AAB3CD982D8}</a:tableStyleId>
              </a:tblPr>
              <a:tblGrid>
                <a:gridCol w="792087"/>
                <a:gridCol w="1224136"/>
                <a:gridCol w="720080"/>
                <a:gridCol w="1224136"/>
                <a:gridCol w="864096"/>
                <a:gridCol w="936104"/>
                <a:gridCol w="720080"/>
                <a:gridCol w="1440159"/>
                <a:gridCol w="720083"/>
              </a:tblGrid>
              <a:tr h="6383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Iterations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Recurrent</a:t>
                      </a:r>
                      <a:r>
                        <a:rPr lang="en-US" sz="1050" b="1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Neural Network (s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Accuracy in  %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Back Propagation Neural Network (s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Accuracy in %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 Nearest Network  (s)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Accuracy in </a:t>
                      </a:r>
                      <a:r>
                        <a:rPr lang="en-US" sz="1050" b="1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%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Iterative Convolutional Neural Network  (s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Accuracy in </a:t>
                      </a:r>
                      <a:r>
                        <a:rPr lang="en-US" sz="1050" b="1" baseline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%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43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</a:t>
                      </a: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 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180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240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360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420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780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840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900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900.0000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880.0000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830.0000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875.0000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790.0000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730.0000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875.0000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825.0000</a:t>
                      </a:r>
                      <a:endParaRPr lang="en-IN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49.6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53.5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55.6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63.2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65.9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73.5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77.6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82.6</a:t>
                      </a:r>
                      <a:endParaRPr lang="en-US" sz="1050" b="0" dirty="0" smtClean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 825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740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/>
                      </a:r>
                      <a:b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675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710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720</a:t>
                      </a:r>
                      <a:endParaRPr lang="en-IN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65.9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70.2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72.4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75.3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77.2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80.2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81.2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83.5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92.4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94.92</a:t>
                      </a:r>
                      <a:endParaRPr lang="en-US" sz="1050" b="0" dirty="0" smtClean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690.0000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680.0000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425.0000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525.0000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610.0000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610.0000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/>
                      </a:r>
                      <a:b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510.0000</a:t>
                      </a:r>
                      <a:endParaRPr lang="en-IN" sz="1050" b="0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600.0000</a:t>
                      </a:r>
                      <a:endParaRPr lang="en-IN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61.9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62.6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63.6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64.3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66.8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67.3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70.8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72.01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83.1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85.2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86.8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0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0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87.24</a:t>
                      </a:r>
                      <a:endParaRPr lang="en-IN" sz="1050" b="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550.0000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475.0000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450.0000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425.0000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530.0000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540.0000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490.0000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480.0000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525.0000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400.0000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430.0000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450.0000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500.0000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lang="en-US" sz="1050" b="1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20.0000</a:t>
                      </a:r>
                      <a:endParaRPr lang="en-IN" sz="1050" b="1" dirty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550.0000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10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050" b="1" dirty="0" smtClean="0"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50" b="1" dirty="0" smtClean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98.5</a:t>
                      </a:r>
                      <a:endParaRPr lang="en-IN" sz="1050" b="1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676456" y="6453337"/>
            <a:ext cx="467544" cy="369168"/>
          </a:xfrm>
        </p:spPr>
        <p:txBody>
          <a:bodyPr/>
          <a:lstStyle/>
          <a:p>
            <a:fld id="{865E7CB2-47A0-4028-96A6-1B1C078AA159}" type="slidenum">
              <a:rPr lang="en-IN" smtClean="0"/>
              <a:t>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16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76064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NETWORK TRAINING PROGRESS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08720"/>
            <a:ext cx="8352928" cy="482453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46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32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29"/>
          <p:cNvSpPr txBox="1">
            <a:spLocks noGrp="1"/>
          </p:cNvSpPr>
          <p:nvPr>
            <p:ph type="title"/>
          </p:nvPr>
        </p:nvSpPr>
        <p:spPr>
          <a:xfrm>
            <a:off x="467544" y="764704"/>
            <a:ext cx="8229600" cy="4354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CLASSIFICATION-OUTPUT IMAGES </a:t>
            </a:r>
            <a:endParaRPr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083" y="2173176"/>
            <a:ext cx="2356934" cy="1824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7" name="Picture 5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72" y="4446323"/>
            <a:ext cx="2155668" cy="128693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887230" y="1591634"/>
            <a:ext cx="2450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1: Covid Affected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2132856"/>
            <a:ext cx="2422533" cy="179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" name="Picture 5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3793" y="4453096"/>
            <a:ext cx="2262827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5266670" y="1591634"/>
            <a:ext cx="2982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2 : Non-Covid Affected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47</a:t>
            </a:fld>
            <a:endParaRPr lang="en" dirty="0"/>
          </a:p>
        </p:txBody>
      </p:sp>
      <p:sp>
        <p:nvSpPr>
          <p:cNvPr id="10" name="Footer Placeholder 4"/>
          <p:cNvSpPr txBox="1">
            <a:spLocks/>
          </p:cNvSpPr>
          <p:nvPr/>
        </p:nvSpPr>
        <p:spPr>
          <a:xfrm>
            <a:off x="3273017" y="5991225"/>
            <a:ext cx="28956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Ranjani.R (Full-Time) </a:t>
            </a:r>
          </a:p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Reg No:UP20G9571002</a:t>
            </a:r>
            <a:endParaRPr lang="en-IN" sz="12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088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6672"/>
            <a:ext cx="8229600" cy="576064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EVALUATION METRICS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Confusion matrix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alse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positive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Reduction graph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Classification time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graph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F1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Score Analysis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graph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Precision Analysis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graph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Correlation Fitness Factor graph </a:t>
            </a:r>
          </a:p>
          <a:p>
            <a:pPr algn="just">
              <a:lnSpc>
                <a:spcPct val="150000"/>
              </a:lnSpc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Differentiation % for correlation factor 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48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566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933" y="836712"/>
            <a:ext cx="8229600" cy="490066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EVALUATION METRICS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33" y="1628800"/>
            <a:ext cx="8352928" cy="32403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107909" y="5013176"/>
            <a:ext cx="8784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(a) False-positive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reduction 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     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(b) Classification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time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                         (c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) Precision Analysis</a:t>
            </a: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49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9512" y="5422709"/>
            <a:ext cx="2735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X-axis =Matching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Y-axis=False-Positive Rate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51921" y="5351730"/>
            <a:ext cx="27644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X-axis=Iterations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Y-axis=Classification Time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seconds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72200" y="5418668"/>
            <a:ext cx="19865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X-axis=Matching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Y-axis=Precision </a:t>
            </a:r>
            <a:r>
              <a:rPr lang="en-US" dirty="0" smtClean="0"/>
              <a:t>%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313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724942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EVALUATION METRICS </a:t>
            </a:r>
            <a:endParaRPr lang="en-IN" sz="2000" b="1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628800"/>
            <a:ext cx="3600400" cy="2448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628800"/>
            <a:ext cx="4148028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720688" y="4281246"/>
            <a:ext cx="7992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(d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) F1-Score Analysis 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                        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(e) Differenciation %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Correlation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factor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for 					proposed algorithm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50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3608" y="4941168"/>
            <a:ext cx="18726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X-axis=Matching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Y-axis=F1-Score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17132" y="4927577"/>
            <a:ext cx="3234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X-axis=Correlation Factor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Y-axis=Fitness Differentiation %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336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648072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EVALUATION METRICS </a:t>
            </a:r>
            <a:endParaRPr lang="en-IN" sz="2000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718" y="1484784"/>
            <a:ext cx="3830250" cy="2741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34"/>
          <a:stretch/>
        </p:blipFill>
        <p:spPr bwMode="auto">
          <a:xfrm>
            <a:off x="4782142" y="1556792"/>
            <a:ext cx="4140222" cy="2626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552128" y="4264248"/>
            <a:ext cx="37444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(f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Confusion Matrix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</a:t>
            </a:r>
          </a:p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proposed algorithm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E7CB2-47A0-4028-96A6-1B1C078AA159}" type="slidenum">
              <a:rPr lang="en-IN" smtClean="0"/>
              <a:t>51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16049" y="4264248"/>
            <a:ext cx="36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 (g) Correlation Fitness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               proposed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Algorithm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796136" y="5085184"/>
            <a:ext cx="2629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X-axis=Correlation Factor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Y-axis=Fitness Range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854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548680"/>
            <a:ext cx="8229600" cy="432048"/>
          </a:xfrm>
        </p:spPr>
        <p:txBody>
          <a:bodyPr/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CONCLUSION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1124744"/>
            <a:ext cx="8280920" cy="4728525"/>
          </a:xfrm>
        </p:spPr>
        <p:txBody>
          <a:bodyPr/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Thus a novel, automated CAD approach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is implemented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detection of covid19 infection using CT images.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pre-processing techniques processed the image clearly and with good efficiency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making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segmentation, thresholding easy. 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proposed algorithms exhibit greater efficiency when compared to the traditional algorithms 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Thus both the phases image processing (98%) and Deep learning(98.5%) has given almost the same accuracy 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proposed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frameworks have improvised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work even more efficient and independent of any other existing works.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52</a:t>
            </a:fld>
            <a:endParaRPr lang="en" dirty="0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3124200" y="6165304"/>
            <a:ext cx="2895600" cy="28803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05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pPr algn="ctr"/>
            <a:r>
              <a:rPr lang="en-IN" sz="105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sz="105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92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504056"/>
          </a:xfrm>
        </p:spPr>
        <p:txBody>
          <a:bodyPr/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FUTURE ENHANCEMENT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764704"/>
            <a:ext cx="8229600" cy="5472608"/>
          </a:xfrm>
        </p:spPr>
        <p:txBody>
          <a:bodyPr/>
          <a:lstStyle/>
          <a:p>
            <a:pPr algn="just">
              <a:lnSpc>
                <a:spcPct val="150000"/>
              </a:lnSpc>
              <a:buSzPct val="60000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Severity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levels can be also be implemented by using CT thorax scanning where cross-sectional Images of the pulmonary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system can be taken.</a:t>
            </a:r>
          </a:p>
          <a:p>
            <a:pPr algn="just">
              <a:lnSpc>
                <a:spcPct val="150000"/>
              </a:lnSpc>
              <a:buSzPct val="60000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Double-Check analysis can be made mandatory by checking the blood sample’s  microscopic Image and  comparing it with the CT Images so as to avoid mislead of negative results.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SzPct val="60000"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ML/DL d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omains can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 simultaneously used for prediction of severity level </a:t>
            </a:r>
          </a:p>
          <a:p>
            <a:pPr algn="just">
              <a:lnSpc>
                <a:spcPct val="150000"/>
              </a:lnSpc>
              <a:buSzPct val="6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 future, DL and ML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domains can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 integrated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with all areas of study. </a:t>
            </a:r>
          </a:p>
          <a:p>
            <a:pPr algn="just">
              <a:lnSpc>
                <a:spcPct val="150000"/>
              </a:lnSpc>
              <a:buSzPct val="6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Researcher can use, CT thorax scanning, ULS (Universal Lesion Segmentation) and Genetic sequencing analysis for covid-19 detection.</a:t>
            </a:r>
          </a:p>
          <a:p>
            <a:pPr algn="just">
              <a:lnSpc>
                <a:spcPct val="150000"/>
              </a:lnSpc>
              <a:buSzPct val="6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Artificial Intelligence based detection techniques can be used in medical Industry to bring new Imaging techniques that can detect any abnormality in patient data. </a:t>
            </a:r>
          </a:p>
          <a:p>
            <a:pPr algn="just">
              <a:lnSpc>
                <a:spcPct val="150000"/>
              </a:lnSpc>
              <a:buSzPct val="60000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future of Al in medical field for diagnosis is very bright which can predict and  prevent future pandemics.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SzPct val="60000"/>
            </a:pP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SzPct val="60000"/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53</a:t>
            </a:fld>
            <a:endParaRPr lang="en" dirty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3124200" y="6165304"/>
            <a:ext cx="2895600" cy="36004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sz="12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829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980728"/>
            <a:ext cx="8229600" cy="523568"/>
          </a:xfrm>
        </p:spPr>
        <p:txBody>
          <a:bodyPr/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CONTRIBUTION TO THE  SOCIETY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6633"/>
            <a:ext cx="8229600" cy="2972487"/>
          </a:xfrm>
        </p:spPr>
        <p:txBody>
          <a:bodyPr/>
          <a:lstStyle/>
          <a:p>
            <a:pPr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Medical field – useful for doctors, radiologists in detecting the disease in an early stage consuming less time.</a:t>
            </a:r>
          </a:p>
          <a:p>
            <a:pPr algn="just">
              <a:lnSpc>
                <a:spcPct val="200000"/>
              </a:lnSpc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New Hybrid methods implemented  can be used to detect any type of virus (via CT Scans) thereby contributing to the study of viruses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54</a:t>
            </a:fld>
            <a:endParaRPr lang="en" dirty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3124200" y="6165304"/>
            <a:ext cx="2895600" cy="36004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sz="12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11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6835"/>
            <a:ext cx="8229600" cy="459837"/>
          </a:xfrm>
        </p:spPr>
        <p:txBody>
          <a:bodyPr/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548680"/>
            <a:ext cx="8424936" cy="5976664"/>
          </a:xfrm>
        </p:spPr>
        <p:txBody>
          <a:bodyPr/>
          <a:lstStyle/>
          <a:p>
            <a:pPr marL="11430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[1] 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S. Akila Agnes, J. Anitha, J. Dinesh Peter, “Automatic lung segmentation in low-dose chest CT scans using convolutional deep and wide </a:t>
            </a:r>
            <a:r>
              <a:rPr lang="en-IN" sz="1800" b="1" dirty="0" smtClean="0">
                <a:latin typeface="Times New Roman" pitchFamily="18" charset="0"/>
                <a:cs typeface="Times New Roman" pitchFamily="18" charset="0"/>
              </a:rPr>
              <a:t>network 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(CDWN)”,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Recent Advances in Deep Learning for Medical Image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Processing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14300" indent="0" algn="just"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[2] Deng-Ping Fan, Tao Zhou,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Ge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-Peng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Ji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Yi Zhou,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Geng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Chen, “Inf-Net: Automatic COVID-19 Lung Infection Segmentation From CT Images”, IEEE TRANSACTIONS ON MEDICAL IMAGING, VOL. 39, NO. 8, AUGUST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2020.</a:t>
            </a:r>
          </a:p>
          <a:p>
            <a:pPr marL="114300" indent="0" algn="just"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[3]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Yutong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Xie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Yong Xia , Member,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Jianpeng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Zhang, Yang Song, “Knowledge-based Collaborative Deep Learning for Benign-Malignant Lung Nodule Classification on Chest CT”, IEEE TRANSACTIONS ON MEDICAL IMAGING, VOL. 38, NO. 4, APRIL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2019.</a:t>
            </a:r>
          </a:p>
          <a:p>
            <a:pPr marL="114300" indent="0" algn="just"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[4] Heewon Chung, Hoon Ko, Se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Jeong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Jeon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Kwon-Ha Yoon and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Jinseok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Lee, “Automatic Lung Segmentation with Juxta-Pleural Nodule Identification using Active Contour Model and Bayesian Approach”, IEEE, 2018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14300" indent="0" algn="just"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[5] Pietro Nardelli, Daniel Jimenez-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Carretero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David Bermejo-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Pelaez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George R. Washko,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Farbod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Rahaghi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“Pulmonary Artery-Vein Classification in 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CT Images 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Using Deep Learning”, IEEE 2018</a:t>
            </a:r>
            <a:r>
              <a:rPr lang="en-IN" sz="1800" dirty="0" smtClean="0"/>
              <a:t>.</a:t>
            </a:r>
            <a:r>
              <a:rPr lang="en-IN" sz="1800" dirty="0"/>
              <a:t> </a:t>
            </a:r>
            <a:endParaRPr lang="en-IN" sz="1800" dirty="0" smtClean="0"/>
          </a:p>
          <a:p>
            <a:pPr marL="114300" indent="0" algn="just">
              <a:buNone/>
            </a:pPr>
            <a:endParaRPr lang="en-IN" sz="1800" dirty="0"/>
          </a:p>
          <a:p>
            <a:pPr marL="114300" indent="0" algn="just">
              <a:buNone/>
            </a:pP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55</a:t>
            </a:fld>
            <a:endParaRPr lang="en" dirty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3124200" y="6345324"/>
            <a:ext cx="2895600" cy="36004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sz="12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74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548680"/>
          </a:xfrm>
        </p:spPr>
        <p:txBody>
          <a:bodyPr/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536" y="476672"/>
            <a:ext cx="8496944" cy="5760640"/>
          </a:xfrm>
        </p:spPr>
        <p:txBody>
          <a:bodyPr/>
          <a:lstStyle/>
          <a:p>
            <a:pPr marL="114300" lvl="0" indent="0" algn="just">
              <a:buNone/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[6] </a:t>
            </a:r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Alwash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N. A., &amp;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Khleaf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H. K. (2022). Artificial intelligent techniques applied for detection COVID-19 based on chest medical imaging. </a:t>
            </a:r>
            <a:r>
              <a:rPr lang="en-IN" sz="1800" i="1" dirty="0">
                <a:latin typeface="Times New Roman" pitchFamily="18" charset="0"/>
                <a:cs typeface="Times New Roman" pitchFamily="18" charset="0"/>
              </a:rPr>
              <a:t>TELKOMNIKA (Telecommunication Computing Electronics and Control)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IN" sz="1800" i="1" dirty="0"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(2), 329-339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14300" lvl="0" indent="0" algn="just"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lvl="0" indent="0" algn="just">
              <a:buNone/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[7] Zhou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L.,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Meng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X., Huang, Y., Kang, K., Zhou, J., Chu, Y., ... &amp;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Gao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X. (2022). An interpretable deep learning workflow for discovering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subvisual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abnormalities in CT scans of COVID-19 inpatients and survivors. </a:t>
            </a:r>
            <a:r>
              <a:rPr lang="en-IN" sz="1800" i="1" dirty="0">
                <a:latin typeface="Times New Roman" pitchFamily="18" charset="0"/>
                <a:cs typeface="Times New Roman" pitchFamily="18" charset="0"/>
              </a:rPr>
              <a:t>Nature Machine Intelligence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IN" sz="1800" i="1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(5), 494-503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14300" lvl="0" indent="0" algn="just"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lvl="0" indent="0" algn="just">
              <a:buNone/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[8] Das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A. (2022). Adaptive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UNet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-based Lung Segmentation and Ensemble Learning with CNN-based Deep Features for Automated COVID-19 Diagnosis. </a:t>
            </a:r>
            <a:r>
              <a:rPr lang="en-IN" sz="1800" i="1" dirty="0">
                <a:latin typeface="Times New Roman" pitchFamily="18" charset="0"/>
                <a:cs typeface="Times New Roman" pitchFamily="18" charset="0"/>
              </a:rPr>
              <a:t>Multimedia Tools and Applications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IN" sz="1800" i="1" dirty="0">
                <a:latin typeface="Times New Roman" pitchFamily="18" charset="0"/>
                <a:cs typeface="Times New Roman" pitchFamily="18" charset="0"/>
              </a:rPr>
              <a:t>81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(4), 5407-5441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14300" lvl="0" indent="0" algn="just"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lvl="0" indent="0" algn="just">
              <a:buNone/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[9] </a:t>
            </a:r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Salama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W. M., &amp;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Aly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M. H. (2022). Framework for COVID-19 segmentation and classification based on deep learning of computed tomography lung images. </a:t>
            </a:r>
            <a:r>
              <a:rPr lang="en-IN" sz="1800" i="1" dirty="0">
                <a:latin typeface="Times New Roman" pitchFamily="18" charset="0"/>
                <a:cs typeface="Times New Roman" pitchFamily="18" charset="0"/>
              </a:rPr>
              <a:t>Journal of Electronic Science and Technology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 </a:t>
            </a:r>
            <a:r>
              <a:rPr lang="en-IN" sz="1800" i="1" dirty="0"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(3), 100161</a:t>
            </a: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14300" lvl="0" indent="0" algn="just">
              <a:buNone/>
            </a:pP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114300" lvl="0" indent="0" algn="just">
              <a:buNone/>
            </a:pPr>
            <a:r>
              <a:rPr lang="en-IN" sz="1800" dirty="0" smtClean="0">
                <a:latin typeface="Times New Roman" pitchFamily="18" charset="0"/>
                <a:cs typeface="Times New Roman" pitchFamily="18" charset="0"/>
              </a:rPr>
              <a:t>[10] </a:t>
            </a:r>
            <a:r>
              <a:rPr lang="en-IN" sz="1800" dirty="0" err="1" smtClean="0">
                <a:latin typeface="Times New Roman" pitchFamily="18" charset="0"/>
                <a:cs typeface="Times New Roman" pitchFamily="18" charset="0"/>
              </a:rPr>
              <a:t>Rasheed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J., &amp;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Shubair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, R. M. (2022, July). Screening Lung Diseases Using Cascaded Feature Generation and Selection Strategies. In </a:t>
            </a:r>
            <a:r>
              <a:rPr lang="en-IN" sz="1800" i="1" dirty="0">
                <a:latin typeface="Times New Roman" pitchFamily="18" charset="0"/>
                <a:cs typeface="Times New Roman" pitchFamily="18" charset="0"/>
              </a:rPr>
              <a:t>Healthcare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 (Vol. 10, No. 7, p. 1313). Multidisciplinary Digital Publishing Institute.</a:t>
            </a:r>
          </a:p>
          <a:p>
            <a:pPr marL="114300" indent="0" algn="just">
              <a:buNone/>
            </a:pPr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56</a:t>
            </a:fld>
            <a:endParaRPr lang="en" dirty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3347864" y="6343093"/>
            <a:ext cx="2895600" cy="36004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sz="12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84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360040"/>
          </a:xfrm>
        </p:spPr>
        <p:txBody>
          <a:bodyPr/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PAPERS PUBLISHED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836712"/>
            <a:ext cx="8291264" cy="4895081"/>
          </a:xfrm>
        </p:spPr>
        <p:txBody>
          <a:bodyPr/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[1]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RESTORATION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AND ENHANCEMENT OF COVID-19 VARIANTS USING CT IMAGES, Frontiers of 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  ICT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Healthcare, Lecture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Notes in Networks and Systems  519,April 2023,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book series 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( LNNS, Volume 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519), pp 485–497,Issn :Electronic ISSN2367-3389, Print ISSN2367-3370. ,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SPRINGER NATURE 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,Indexed in 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Scopus. </a:t>
            </a:r>
            <a:endParaRPr lang="en-IN" sz="1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endParaRPr lang="en-IN" sz="14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[2]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A FUSION OF IMAGE PROCESSING AND DEEP LEARNIN FOR COVID-19 DETECTION USING 2D ITERTIVE CONVOLUTIONAL NEURAL NETWORK ,Journal of Advanced Zoology , September  2023,Volume 44,Issue 1-3,page 746-755,Issn:0253-7214.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Indexed in 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Scopus</a:t>
            </a:r>
            <a:r>
              <a:rPr lang="en-IN" sz="14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3]LUNG CANCER AND COVID-19 DIAGNOSIS TECHNIQUES USING CT IMAGES-A REVIEW, Neuroquantolog ,September 2022,Volume 20,Issue 11,page 4303-4307,Issn:1303-5150.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Indexed in </a:t>
            </a:r>
            <a:r>
              <a:rPr lang="en-IN" sz="1400" b="1" dirty="0" smtClean="0">
                <a:latin typeface="Times New Roman" pitchFamily="18" charset="0"/>
                <a:cs typeface="Times New Roman" pitchFamily="18" charset="0"/>
              </a:rPr>
              <a:t>Scopus.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[4]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A COMPARISON OF IMAGE RESTORATION TECHNIQUES OF LUNG CT COVID-19 IMAGES, International journal of Mechanical Engineering, Kalahari journals,Vol.6,3 Dec,2021,pg no, 15921593,issn:0974-5823.Indexed in 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Scopus. </a:t>
            </a:r>
          </a:p>
          <a:p>
            <a:pPr marL="114300" indent="0" algn="just">
              <a:lnSpc>
                <a:spcPct val="150000"/>
              </a:lnSpc>
              <a:buNone/>
            </a:pPr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57</a:t>
            </a:fld>
            <a:endParaRPr lang="en" dirty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3347864" y="6163073"/>
            <a:ext cx="2895600" cy="36004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sz="12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51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07503"/>
          </a:xfrm>
        </p:spPr>
        <p:txBody>
          <a:bodyPr/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CONFERENCES ATTENDED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692696"/>
            <a:ext cx="8147248" cy="5400600"/>
          </a:xfrm>
        </p:spPr>
        <p:txBody>
          <a:bodyPr/>
          <a:lstStyle/>
          <a:p>
            <a:pPr marL="114300" indent="0" algn="just">
              <a:buNone/>
            </a:pP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1.)Attended 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“International Conference on RECENT ADVANCES IN SCIENCE, TECHNOLOGY,ENGINEERING, MANAGEMENT AND SOCIAL SCIENCE 2023” held on 06-08,October2023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and submitted the paper “A FUSION OF IMAGE PROCESSING AND DEEP LEARNING FOR COVID19 DETECTION USING 2D ITERATIVE CONVOLUTIONAL NEURAL 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NETWORK“</a:t>
            </a:r>
          </a:p>
          <a:p>
            <a:pPr marL="114300" indent="0" algn="just">
              <a:buNone/>
            </a:pPr>
            <a:endParaRPr lang="en-IN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2.) Attended 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the “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International Conference on Recent Revolutions in Mathematics, Computer Science and Applications (ICRRMCSA’22 ) 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held on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 Sep 9</a:t>
            </a:r>
            <a:r>
              <a:rPr lang="en-IN" sz="1400" b="1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 and 10</a:t>
            </a:r>
            <a:r>
              <a:rPr lang="en-IN" sz="1400" b="1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  2022 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and submitted the paper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 “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Lung Cancer and Covid-19 Diagnosis Techniques using CT Images-A Review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”.</a:t>
            </a:r>
          </a:p>
          <a:p>
            <a:pPr marL="114300" indent="0" algn="just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3.) Attended 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the “7th International Conference on Emerging Applications of Information Technology (EAIT 2022) held on March 29-31, 2022 and submitted the paper “RESTORATION AND ENHANCEMENT OF COVID-19 VARIANTS USING CT IMAGES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".</a:t>
            </a:r>
          </a:p>
          <a:p>
            <a:pPr marL="114300" indent="0" algn="just">
              <a:buNone/>
            </a:pPr>
            <a:endParaRPr lang="en-IN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4.) Attended 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“VISTAS International conference on Computing and Mathematcs-2022</a:t>
            </a:r>
          </a:p>
          <a:p>
            <a:pPr marL="114300" indent="0" algn="just">
              <a:buNone/>
            </a:pP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 (VICCM-2022)” 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held on March 23rd &amp; 24th 2022 and submitted the paper “SEGMENTATION &amp; THRESHOILDING OF COVID-19 AND LUNG CANCER USING ENHANCED CT IMAGES </a:t>
            </a: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“.</a:t>
            </a:r>
          </a:p>
          <a:p>
            <a:pPr marL="114300" indent="0" algn="just">
              <a:buNone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14300" indent="0" algn="just">
              <a:buNone/>
            </a:pPr>
            <a:r>
              <a:rPr lang="en-IN" sz="1400" dirty="0" smtClean="0">
                <a:latin typeface="Times New Roman" pitchFamily="18" charset="0"/>
                <a:cs typeface="Times New Roman" pitchFamily="18" charset="0"/>
              </a:rPr>
              <a:t>5.) Attended 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“International Conference on Advances in Data Science Challenges with Big Data Analysis”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 held on 16 and 17-Feb-2022 and submitted the paper “EFFICIENT SEGMENTATION AND DETECTION OF COVID-19 AND LUNG CANCER”.</a:t>
            </a:r>
          </a:p>
          <a:p>
            <a:pPr marL="114300" indent="0" algn="just">
              <a:buNone/>
            </a:pP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114300" indent="0" algn="just">
              <a:buNone/>
            </a:pP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6.) Attended 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International Conference entitled “Multidisciplinary Research and Innovations” 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held on the 9</a:t>
            </a:r>
            <a:r>
              <a:rPr lang="en-IN" sz="1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 &amp; 10</a:t>
            </a:r>
            <a:r>
              <a:rPr lang="en-IN" sz="1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 of December 2021and submitted the paper “A COMPARISON OF IMAGE RESTORATION TECHNIQUES OF LUNG CT COVID-19 IMAGES”.</a:t>
            </a:r>
          </a:p>
          <a:p>
            <a:pPr marL="114300" indent="0" algn="just">
              <a:buNone/>
            </a:pPr>
            <a:r>
              <a:rPr lang="en-IN" sz="14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114300" indent="0" algn="just">
              <a:buNone/>
            </a:pPr>
            <a:r>
              <a:rPr lang="en-IN" sz="1400" dirty="0"/>
              <a:t> </a:t>
            </a:r>
          </a:p>
          <a:p>
            <a:pPr algn="just"/>
            <a:endParaRPr lang="en-IN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58</a:t>
            </a:fld>
            <a:endParaRPr lang="en" dirty="0"/>
          </a:p>
        </p:txBody>
      </p:sp>
      <p:sp>
        <p:nvSpPr>
          <p:cNvPr id="5" name="Footer Placeholder 4"/>
          <p:cNvSpPr txBox="1">
            <a:spLocks/>
          </p:cNvSpPr>
          <p:nvPr/>
        </p:nvSpPr>
        <p:spPr>
          <a:xfrm>
            <a:off x="3347864" y="6152019"/>
            <a:ext cx="2895600" cy="36004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sz="12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928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560" y="1052736"/>
            <a:ext cx="8229600" cy="45552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114300" indent="0" algn="ctr">
              <a:buNone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QUERIES?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59</a:t>
            </a:fld>
            <a:endParaRPr lang="en" dirty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3275856" y="6133358"/>
            <a:ext cx="2895600" cy="36004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sz="12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04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552" y="980728"/>
            <a:ext cx="8229600" cy="4555200"/>
          </a:xfrm>
        </p:spPr>
        <p:txBody>
          <a:bodyPr/>
          <a:lstStyle/>
          <a:p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 marL="114300" indent="0" algn="ctr">
              <a:buNone/>
            </a:pPr>
            <a:r>
              <a:rPr lang="en-US" sz="4400" b="1" dirty="0" smtClean="0">
                <a:latin typeface="Times New Roman" pitchFamily="18" charset="0"/>
                <a:cs typeface="Times New Roman" pitchFamily="18" charset="0"/>
              </a:rPr>
              <a:t>THANK YOU </a:t>
            </a:r>
            <a:endParaRPr lang="en-IN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60</a:t>
            </a:fld>
            <a:endParaRPr lang="en" dirty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3347864" y="6142688"/>
            <a:ext cx="2895600" cy="36004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Ranjani.R (Full-Time)</a:t>
            </a:r>
          </a:p>
          <a:p>
            <a:pPr algn="ctr"/>
            <a:r>
              <a:rPr lang="en-IN" sz="1200" dirty="0" smtClean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Reg No:UP20G9571002</a:t>
            </a:r>
            <a:endParaRPr lang="en-IN" sz="1200" dirty="0">
              <a:solidFill>
                <a:schemeClr val="bg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409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3493</TotalTime>
  <Words>4586</Words>
  <Application>Microsoft Office PowerPoint</Application>
  <PresentationFormat>On-screen Show (4:3)</PresentationFormat>
  <Paragraphs>1266</Paragraphs>
  <Slides>60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Ph.D VIVA-VOCE EXAMINATION School of Computing Sciences  </vt:lpstr>
      <vt:lpstr>AGENDA</vt:lpstr>
      <vt:lpstr>ABSTRACT</vt:lpstr>
      <vt:lpstr>ABSTRACT</vt:lpstr>
      <vt:lpstr>INTRODUCTION </vt:lpstr>
      <vt:lpstr>INTRODUCTION</vt:lpstr>
      <vt:lpstr>STRUCTURE OF COVID-19 VIRUS </vt:lpstr>
      <vt:lpstr>STRUCTURE OF COVID-19 VIRUS </vt:lpstr>
      <vt:lpstr>STRUCTURE OF COVID-19 VIRUS </vt:lpstr>
      <vt:lpstr>PROBLEM DEFINITION</vt:lpstr>
      <vt:lpstr>RESEARCH OBJECTIVES</vt:lpstr>
      <vt:lpstr>LITERATURE REVIEW</vt:lpstr>
      <vt:lpstr>PowerPoint Presentation</vt:lpstr>
      <vt:lpstr> LITERATURE REVIEW </vt:lpstr>
      <vt:lpstr>PROPOSED WORKFLOW </vt:lpstr>
      <vt:lpstr>ARCHITECTURE DIAGRAM OF PROPOSED WORK </vt:lpstr>
      <vt:lpstr>COVID-19 DATASET</vt:lpstr>
      <vt:lpstr>PROPOSED METHODOLOGIES</vt:lpstr>
      <vt:lpstr>      PHASE 1:IMAGE PROCESSING  STEP1:IMAGE PRE-PROCESSING     </vt:lpstr>
      <vt:lpstr>PHASE 1:IMAGE PRE-PROCESSING </vt:lpstr>
      <vt:lpstr>Algorithm 1: 2D Improved Anisotropic Diffusion Bilateral Filter  (2D IADBF)</vt:lpstr>
      <vt:lpstr>Table 1. Comparison of Peak-Signal Noise Ratio (PSNR) and  Mean Square Error MSE</vt:lpstr>
      <vt:lpstr>COMPARISON GRAPHS </vt:lpstr>
      <vt:lpstr>Graph 3 Comparison Of Root Mean Square Error  (RMSE)</vt:lpstr>
      <vt:lpstr> Phase1:Step1: ii)Image Enhancement using 2D Edge Preservation Efficient Histogram Processing  (2D EPEHI) </vt:lpstr>
      <vt:lpstr> ii) Image Enhancement using 2D Edge Preservation Efficient Histogram Processing (2D EPEHI) </vt:lpstr>
      <vt:lpstr>Algorithm 2: 2D Edge Preservation Efficient Histogram Improvement (2D EPEHI) </vt:lpstr>
      <vt:lpstr>  Algorithm 2: 2D Edge Preservation Efficient Histogram Improvement  (2D EPEHI)   </vt:lpstr>
      <vt:lpstr>Table 2. Comparison of Structural Similarity Index Metric (SSIM) and Absolute Mean Brightness Error (AMBE)</vt:lpstr>
      <vt:lpstr>IMAGE  PRE-PROCESSING  OUTPUT  CT IMAGES</vt:lpstr>
      <vt:lpstr> Phase 1:Step 2: Extraction of Region of Interest (ROI) </vt:lpstr>
      <vt:lpstr>Phase 1:Step 2: Extraction of Region of Interest (ROI) </vt:lpstr>
      <vt:lpstr> Table 3: Comparison of Thresholding algorithms </vt:lpstr>
      <vt:lpstr>  Phase 1: STEP 2: Extraction of Region of Interest (ROI) ii) Image Clustering using 2D Hybrid Fuzzy C-Means (2D HFCM) </vt:lpstr>
      <vt:lpstr> Phase 1: STEP 2 Extraction of Region of Interest (ROI)  ii)Image Clustering using 2D Hybrid Fuzzy C-Means (2D HFCM) </vt:lpstr>
      <vt:lpstr>TABLE 3:Comparison of Segmentation parameter values</vt:lpstr>
      <vt:lpstr> </vt:lpstr>
      <vt:lpstr>SEGMENTATION ACCURACY GRAPH</vt:lpstr>
      <vt:lpstr> </vt:lpstr>
      <vt:lpstr>Phase 2: Deep learning For Classification  Step 1:Classification using 2D Iterative Convolutional Neural Network </vt:lpstr>
      <vt:lpstr>Phase 2:Deep Learning For  Classification  i)Classification using 2D Iterative Convolutional neural network  </vt:lpstr>
      <vt:lpstr> ARCHITECTURE OF PROPOSED 2D ITERATIVE CONVOLUTIONAL NEURAL NETWORK </vt:lpstr>
      <vt:lpstr>Phase 2:Deep Learning For Classification </vt:lpstr>
      <vt:lpstr>Algorithm 5:2D Iterative Convolutional  Neural Network  </vt:lpstr>
      <vt:lpstr>Table 5: Comparison of Classification Accuracies for CNN’S </vt:lpstr>
      <vt:lpstr>NETWORK TRAINING PROGRESS</vt:lpstr>
      <vt:lpstr>CLASSIFICATION-OUTPUT IMAGES </vt:lpstr>
      <vt:lpstr>EVALUATION METRICS </vt:lpstr>
      <vt:lpstr>EVALUATION METRICS </vt:lpstr>
      <vt:lpstr>EVALUATION METRICS </vt:lpstr>
      <vt:lpstr>EVALUATION METRICS </vt:lpstr>
      <vt:lpstr>CONCLUSION </vt:lpstr>
      <vt:lpstr>FUTURE ENHANCEMENT </vt:lpstr>
      <vt:lpstr>CONTRIBUTION TO THE  SOCIETY</vt:lpstr>
      <vt:lpstr>REFERENCES</vt:lpstr>
      <vt:lpstr>REFERENCES</vt:lpstr>
      <vt:lpstr>PAPERS PUBLISHED</vt:lpstr>
      <vt:lpstr>CONFERENCES ATTENDED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RANJANI.R Research Scholar , Department of Computer Science  “A FUSION OF IMAGE PROCESSING AND DEEP LEARNING FOR COVID-19 DETECTION USING CT IMAGES”</dc:title>
  <dc:creator>user</dc:creator>
  <cp:lastModifiedBy>user</cp:lastModifiedBy>
  <cp:revision>592</cp:revision>
  <dcterms:created xsi:type="dcterms:W3CDTF">2023-11-17T06:38:14Z</dcterms:created>
  <dcterms:modified xsi:type="dcterms:W3CDTF">2024-07-11T09:48:18Z</dcterms:modified>
</cp:coreProperties>
</file>